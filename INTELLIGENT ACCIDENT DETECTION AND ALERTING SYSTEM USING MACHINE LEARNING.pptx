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 id="2147483694" r:id="rId2"/>
  </p:sldMasterIdLst>
  <p:notesMasterIdLst>
    <p:notesMasterId r:id="rId30"/>
  </p:notesMasterIdLst>
  <p:sldIdLst>
    <p:sldId id="256" r:id="rId3"/>
    <p:sldId id="257" r:id="rId4"/>
    <p:sldId id="258" r:id="rId5"/>
    <p:sldId id="259" r:id="rId6"/>
    <p:sldId id="260" r:id="rId7"/>
    <p:sldId id="273" r:id="rId8"/>
    <p:sldId id="269" r:id="rId9"/>
    <p:sldId id="262" r:id="rId10"/>
    <p:sldId id="292" r:id="rId11"/>
    <p:sldId id="261" r:id="rId12"/>
    <p:sldId id="266" r:id="rId13"/>
    <p:sldId id="263" r:id="rId14"/>
    <p:sldId id="277" r:id="rId15"/>
    <p:sldId id="289" r:id="rId16"/>
    <p:sldId id="290" r:id="rId17"/>
    <p:sldId id="281" r:id="rId18"/>
    <p:sldId id="282" r:id="rId19"/>
    <p:sldId id="283" r:id="rId20"/>
    <p:sldId id="284" r:id="rId21"/>
    <p:sldId id="285" r:id="rId22"/>
    <p:sldId id="288" r:id="rId23"/>
    <p:sldId id="286" r:id="rId24"/>
    <p:sldId id="287" r:id="rId25"/>
    <p:sldId id="267" r:id="rId26"/>
    <p:sldId id="279" r:id="rId27"/>
    <p:sldId id="280" r:id="rId28"/>
    <p:sldId id="268" r:id="rId29"/>
  </p:sldIdLst>
  <p:sldSz cx="9144000" cy="6858000" type="screen4x3"/>
  <p:notesSz cx="6858000" cy="9144000"/>
  <p:embeddedFontLst>
    <p:embeddedFont>
      <p:font typeface="Century Gothic" panose="020B0502020202020204" pitchFamily="34" charset="0"/>
      <p:regular r:id="rId31"/>
      <p:bold r:id="rId32"/>
      <p:italic r:id="rId33"/>
      <p:boldItalic r:id="rId34"/>
    </p:embeddedFont>
    <p:embeddedFont>
      <p:font typeface="Times" panose="02020603050405020304" pitchFamily="18" charset="0"/>
      <p:regular r:id="rId35"/>
      <p:bold r:id="rId36"/>
      <p:italic r:id="rId37"/>
      <p:boldItalic r:id="rId38"/>
    </p:embeddedFont>
    <p:embeddedFont>
      <p:font typeface="Calibri" panose="020F0502020204030204" pitchFamily="34" charset="0"/>
      <p:regular r:id="rId39"/>
      <p:bold r:id="rId40"/>
      <p:italic r:id="rId41"/>
      <p:boldItalic r:id="rId42"/>
    </p:embeddedFont>
    <p:embeddedFont>
      <p:font typeface="Calibri Light" panose="020F0302020204030204" pitchFamily="34" charset="0"/>
      <p:regular r:id="rId43"/>
      <p:italic r:id="rId44"/>
    </p:embeddedFont>
    <p:embeddedFont>
      <p:font typeface="Cambria" panose="02040503050406030204" pitchFamily="18"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DF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B03AD4-097E-49DC-91F9-B0E245889B1B}" v="48" dt="2026-04-28T15:30:57.868"/>
  </p1510:revLst>
</p1510:revInfo>
</file>

<file path=ppt/tableStyles.xml><?xml version="1.0" encoding="utf-8"?>
<a:tblStyleLst xmlns:a="http://schemas.openxmlformats.org/drawingml/2006/main" def="{6163BEFD-34F1-4015-AAA6-348518B0E7BF}">
  <a:tblStyle styleId="{6163BEFD-34F1-4015-AAA6-348518B0E7B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08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1.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6.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ini R R" userId="bd0932ba9f8cefee" providerId="LiveId" clId="{A03E458B-C56C-4480-B9CB-96286FFAD17C}"/>
    <pc:docChg chg="custSel addSld modSld delMainMaster">
      <pc:chgData name="Darshini R R" userId="bd0932ba9f8cefee" providerId="LiveId" clId="{A03E458B-C56C-4480-B9CB-96286FFAD17C}" dt="2026-04-28T15:31:03.519" v="632" actId="20577"/>
      <pc:docMkLst>
        <pc:docMk/>
      </pc:docMkLst>
      <pc:sldChg chg="modSp mod">
        <pc:chgData name="Darshini R R" userId="bd0932ba9f8cefee" providerId="LiveId" clId="{A03E458B-C56C-4480-B9CB-96286FFAD17C}" dt="2026-04-28T13:17:48.451" v="438" actId="20577"/>
        <pc:sldMkLst>
          <pc:docMk/>
          <pc:sldMk cId="0" sldId="256"/>
        </pc:sldMkLst>
        <pc:spChg chg="mod">
          <ac:chgData name="Darshini R R" userId="bd0932ba9f8cefee" providerId="LiveId" clId="{A03E458B-C56C-4480-B9CB-96286FFAD17C}" dt="2026-04-28T13:11:48.580" v="116" actId="20577"/>
          <ac:spMkLst>
            <pc:docMk/>
            <pc:sldMk cId="0" sldId="256"/>
            <ac:spMk id="690" creationId="{00000000-0000-0000-0000-000000000000}"/>
          </ac:spMkLst>
        </pc:spChg>
        <pc:spChg chg="mod">
          <ac:chgData name="Darshini R R" userId="bd0932ba9f8cefee" providerId="LiveId" clId="{A03E458B-C56C-4480-B9CB-96286FFAD17C}" dt="2026-04-28T13:17:48.451" v="438" actId="20577"/>
          <ac:spMkLst>
            <pc:docMk/>
            <pc:sldMk cId="0" sldId="256"/>
            <ac:spMk id="691" creationId="{00000000-0000-0000-0000-000000000000}"/>
          </ac:spMkLst>
        </pc:spChg>
        <pc:spChg chg="mod">
          <ac:chgData name="Darshini R R" userId="bd0932ba9f8cefee" providerId="LiveId" clId="{A03E458B-C56C-4480-B9CB-96286FFAD17C}" dt="2026-04-28T13:14:03.606" v="226" actId="255"/>
          <ac:spMkLst>
            <pc:docMk/>
            <pc:sldMk cId="0" sldId="256"/>
            <ac:spMk id="695" creationId="{00000000-0000-0000-0000-000000000000}"/>
          </ac:spMkLst>
        </pc:spChg>
      </pc:sldChg>
      <pc:sldChg chg="modSp mod">
        <pc:chgData name="Darshini R R" userId="bd0932ba9f8cefee" providerId="LiveId" clId="{A03E458B-C56C-4480-B9CB-96286FFAD17C}" dt="2026-04-28T13:19:40.487" v="444" actId="14100"/>
        <pc:sldMkLst>
          <pc:docMk/>
          <pc:sldMk cId="0" sldId="258"/>
        </pc:sldMkLst>
        <pc:spChg chg="mod">
          <ac:chgData name="Darshini R R" userId="bd0932ba9f8cefee" providerId="LiveId" clId="{A03E458B-C56C-4480-B9CB-96286FFAD17C}" dt="2026-04-28T13:19:40.487" v="444" actId="14100"/>
          <ac:spMkLst>
            <pc:docMk/>
            <pc:sldMk cId="0" sldId="258"/>
            <ac:spMk id="711" creationId="{00000000-0000-0000-0000-000000000000}"/>
          </ac:spMkLst>
        </pc:spChg>
      </pc:sldChg>
      <pc:sldChg chg="addSp delSp modSp mod">
        <pc:chgData name="Darshini R R" userId="bd0932ba9f8cefee" providerId="LiveId" clId="{A03E458B-C56C-4480-B9CB-96286FFAD17C}" dt="2026-04-28T13:26:49.434" v="473" actId="20577"/>
        <pc:sldMkLst>
          <pc:docMk/>
          <pc:sldMk cId="0" sldId="259"/>
        </pc:sldMkLst>
        <pc:spChg chg="add del mod">
          <ac:chgData name="Darshini R R" userId="bd0932ba9f8cefee" providerId="LiveId" clId="{A03E458B-C56C-4480-B9CB-96286FFAD17C}" dt="2026-04-28T13:25:49.791" v="463" actId="21"/>
          <ac:spMkLst>
            <pc:docMk/>
            <pc:sldMk cId="0" sldId="259"/>
            <ac:spMk id="2" creationId="{204CC0D1-1431-9C9B-ACA3-F41F37583C39}"/>
          </ac:spMkLst>
        </pc:spChg>
        <pc:spChg chg="add del mod">
          <ac:chgData name="Darshini R R" userId="bd0932ba9f8cefee" providerId="LiveId" clId="{A03E458B-C56C-4480-B9CB-96286FFAD17C}" dt="2026-04-28T13:25:49.791" v="463" actId="21"/>
          <ac:spMkLst>
            <pc:docMk/>
            <pc:sldMk cId="0" sldId="259"/>
            <ac:spMk id="3" creationId="{932FF50B-34D8-203F-D396-8B431847EFA4}"/>
          </ac:spMkLst>
        </pc:spChg>
        <pc:spChg chg="add mod">
          <ac:chgData name="Darshini R R" userId="bd0932ba9f8cefee" providerId="LiveId" clId="{A03E458B-C56C-4480-B9CB-96286FFAD17C}" dt="2026-04-28T13:26:49.434" v="473" actId="20577"/>
          <ac:spMkLst>
            <pc:docMk/>
            <pc:sldMk cId="0" sldId="259"/>
            <ac:spMk id="4" creationId="{B8632D88-0675-63A9-A9AD-37D5683C5AE4}"/>
          </ac:spMkLst>
        </pc:spChg>
        <pc:spChg chg="del mod">
          <ac:chgData name="Darshini R R" userId="bd0932ba9f8cefee" providerId="LiveId" clId="{A03E458B-C56C-4480-B9CB-96286FFAD17C}" dt="2026-04-28T13:22:58.733" v="446"/>
          <ac:spMkLst>
            <pc:docMk/>
            <pc:sldMk cId="0" sldId="259"/>
            <ac:spMk id="720" creationId="{00000000-0000-0000-0000-000000000000}"/>
          </ac:spMkLst>
        </pc:spChg>
      </pc:sldChg>
      <pc:sldChg chg="addSp delSp modSp mod">
        <pc:chgData name="Darshini R R" userId="bd0932ba9f8cefee" providerId="LiveId" clId="{A03E458B-C56C-4480-B9CB-96286FFAD17C}" dt="2026-04-28T13:35:09.052" v="499" actId="14100"/>
        <pc:sldMkLst>
          <pc:docMk/>
          <pc:sldMk cId="0" sldId="260"/>
        </pc:sldMkLst>
        <pc:spChg chg="add mod">
          <ac:chgData name="Darshini R R" userId="bd0932ba9f8cefee" providerId="LiveId" clId="{A03E458B-C56C-4480-B9CB-96286FFAD17C}" dt="2026-04-28T13:35:09.052" v="499" actId="14100"/>
          <ac:spMkLst>
            <pc:docMk/>
            <pc:sldMk cId="0" sldId="260"/>
            <ac:spMk id="2" creationId="{AF092819-0D61-0AB8-4291-F435A381029A}"/>
          </ac:spMkLst>
        </pc:spChg>
        <pc:spChg chg="del mod">
          <ac:chgData name="Darshini R R" userId="bd0932ba9f8cefee" providerId="LiveId" clId="{A03E458B-C56C-4480-B9CB-96286FFAD17C}" dt="2026-04-28T13:34:52.781" v="497"/>
          <ac:spMkLst>
            <pc:docMk/>
            <pc:sldMk cId="0" sldId="260"/>
            <ac:spMk id="729" creationId="{00000000-0000-0000-0000-000000000000}"/>
          </ac:spMkLst>
        </pc:spChg>
      </pc:sldChg>
      <pc:sldChg chg="addSp delSp modSp mod">
        <pc:chgData name="Darshini R R" userId="bd0932ba9f8cefee" providerId="LiveId" clId="{A03E458B-C56C-4480-B9CB-96286FFAD17C}" dt="2026-04-28T15:05:27.481" v="538" actId="14100"/>
        <pc:sldMkLst>
          <pc:docMk/>
          <pc:sldMk cId="0" sldId="261"/>
        </pc:sldMkLst>
        <pc:spChg chg="add del mod">
          <ac:chgData name="Darshini R R" userId="bd0932ba9f8cefee" providerId="LiveId" clId="{A03E458B-C56C-4480-B9CB-96286FFAD17C}" dt="2026-04-28T15:04:58.310" v="535"/>
          <ac:spMkLst>
            <pc:docMk/>
            <pc:sldMk cId="0" sldId="261"/>
            <ac:spMk id="2" creationId="{33FD7BD8-D6ED-6278-3B35-9C9E67EB541D}"/>
          </ac:spMkLst>
        </pc:spChg>
        <pc:spChg chg="add mod">
          <ac:chgData name="Darshini R R" userId="bd0932ba9f8cefee" providerId="LiveId" clId="{A03E458B-C56C-4480-B9CB-96286FFAD17C}" dt="2026-04-28T15:04:58.310" v="535"/>
          <ac:spMkLst>
            <pc:docMk/>
            <pc:sldMk cId="0" sldId="261"/>
            <ac:spMk id="3" creationId="{4D9B13AB-16C9-C964-6822-3925D025C4C2}"/>
          </ac:spMkLst>
        </pc:spChg>
        <pc:spChg chg="del mod">
          <ac:chgData name="Darshini R R" userId="bd0932ba9f8cefee" providerId="LiveId" clId="{A03E458B-C56C-4480-B9CB-96286FFAD17C}" dt="2026-04-28T15:04:43.997" v="534"/>
          <ac:spMkLst>
            <pc:docMk/>
            <pc:sldMk cId="0" sldId="261"/>
            <ac:spMk id="738" creationId="{00000000-0000-0000-0000-000000000000}"/>
          </ac:spMkLst>
        </pc:spChg>
        <pc:picChg chg="add mod">
          <ac:chgData name="Darshini R R" userId="bd0932ba9f8cefee" providerId="LiveId" clId="{A03E458B-C56C-4480-B9CB-96286FFAD17C}" dt="2026-04-28T15:05:27.481" v="538" actId="14100"/>
          <ac:picMkLst>
            <pc:docMk/>
            <pc:sldMk cId="0" sldId="261"/>
            <ac:picMk id="5" creationId="{4D132EA1-1DEF-E95E-7461-0E9B634BE99F}"/>
          </ac:picMkLst>
        </pc:picChg>
      </pc:sldChg>
      <pc:sldChg chg="modSp mod">
        <pc:chgData name="Darshini R R" userId="bd0932ba9f8cefee" providerId="LiveId" clId="{A03E458B-C56C-4480-B9CB-96286FFAD17C}" dt="2026-04-28T15:21:43.243" v="592" actId="20577"/>
        <pc:sldMkLst>
          <pc:docMk/>
          <pc:sldMk cId="0" sldId="263"/>
        </pc:sldMkLst>
        <pc:spChg chg="mod">
          <ac:chgData name="Darshini R R" userId="bd0932ba9f8cefee" providerId="LiveId" clId="{A03E458B-C56C-4480-B9CB-96286FFAD17C}" dt="2026-04-28T15:21:43.243" v="592" actId="20577"/>
          <ac:spMkLst>
            <pc:docMk/>
            <pc:sldMk cId="0" sldId="263"/>
            <ac:spMk id="757" creationId="{00000000-0000-0000-0000-000000000000}"/>
          </ac:spMkLst>
        </pc:spChg>
      </pc:sldChg>
      <pc:sldChg chg="modSp mod">
        <pc:chgData name="Darshini R R" userId="bd0932ba9f8cefee" providerId="LiveId" clId="{A03E458B-C56C-4480-B9CB-96286FFAD17C}" dt="2026-04-28T15:13:32.852" v="559"/>
        <pc:sldMkLst>
          <pc:docMk/>
          <pc:sldMk cId="0" sldId="266"/>
        </pc:sldMkLst>
        <pc:spChg chg="mod">
          <ac:chgData name="Darshini R R" userId="bd0932ba9f8cefee" providerId="LiveId" clId="{A03E458B-C56C-4480-B9CB-96286FFAD17C}" dt="2026-04-28T15:13:32.852" v="559"/>
          <ac:spMkLst>
            <pc:docMk/>
            <pc:sldMk cId="0" sldId="266"/>
            <ac:spMk id="786" creationId="{00000000-0000-0000-0000-000000000000}"/>
          </ac:spMkLst>
        </pc:spChg>
      </pc:sldChg>
      <pc:sldChg chg="modSp mod">
        <pc:chgData name="Darshini R R" userId="bd0932ba9f8cefee" providerId="LiveId" clId="{A03E458B-C56C-4480-B9CB-96286FFAD17C}" dt="2026-04-28T13:46:38.832" v="531"/>
        <pc:sldMkLst>
          <pc:docMk/>
          <pc:sldMk cId="3536479042" sldId="269"/>
        </pc:sldMkLst>
        <pc:spChg chg="mod">
          <ac:chgData name="Darshini R R" userId="bd0932ba9f8cefee" providerId="LiveId" clId="{A03E458B-C56C-4480-B9CB-96286FFAD17C}" dt="2026-04-28T13:46:38.832" v="531"/>
          <ac:spMkLst>
            <pc:docMk/>
            <pc:sldMk cId="3536479042" sldId="269"/>
            <ac:spMk id="729" creationId="{5C78D9AE-DF0F-24BC-9DDC-C4815F26F955}"/>
          </ac:spMkLst>
        </pc:spChg>
      </pc:sldChg>
      <pc:sldChg chg="modSp new mod">
        <pc:chgData name="Darshini R R" userId="bd0932ba9f8cefee" providerId="LiveId" clId="{A03E458B-C56C-4480-B9CB-96286FFAD17C}" dt="2026-04-28T13:40:11.833" v="529"/>
        <pc:sldMkLst>
          <pc:docMk/>
          <pc:sldMk cId="4089386923" sldId="273"/>
        </pc:sldMkLst>
        <pc:spChg chg="mod">
          <ac:chgData name="Darshini R R" userId="bd0932ba9f8cefee" providerId="LiveId" clId="{A03E458B-C56C-4480-B9CB-96286FFAD17C}" dt="2026-04-28T13:37:00.824" v="502" actId="113"/>
          <ac:spMkLst>
            <pc:docMk/>
            <pc:sldMk cId="4089386923" sldId="273"/>
            <ac:spMk id="2" creationId="{7DAAAF77-F233-29EE-92CB-39F14C4ACF5F}"/>
          </ac:spMkLst>
        </pc:spChg>
        <pc:spChg chg="mod">
          <ac:chgData name="Darshini R R" userId="bd0932ba9f8cefee" providerId="LiveId" clId="{A03E458B-C56C-4480-B9CB-96286FFAD17C}" dt="2026-04-28T13:40:11.833" v="529"/>
          <ac:spMkLst>
            <pc:docMk/>
            <pc:sldMk cId="4089386923" sldId="273"/>
            <ac:spMk id="3" creationId="{514BEEE9-8A3E-831C-E659-334DF1861B53}"/>
          </ac:spMkLst>
        </pc:spChg>
      </pc:sldChg>
      <pc:sldChg chg="modSp new mod">
        <pc:chgData name="Darshini R R" userId="bd0932ba9f8cefee" providerId="LiveId" clId="{A03E458B-C56C-4480-B9CB-96286FFAD17C}" dt="2026-04-28T15:08:37.226" v="549" actId="5793"/>
        <pc:sldMkLst>
          <pc:docMk/>
          <pc:sldMk cId="2404404335" sldId="274"/>
        </pc:sldMkLst>
        <pc:spChg chg="mod">
          <ac:chgData name="Darshini R R" userId="bd0932ba9f8cefee" providerId="LiveId" clId="{A03E458B-C56C-4480-B9CB-96286FFAD17C}" dt="2026-04-28T15:08:37.226" v="549" actId="5793"/>
          <ac:spMkLst>
            <pc:docMk/>
            <pc:sldMk cId="2404404335" sldId="274"/>
            <ac:spMk id="3" creationId="{668A6BD6-175E-57E0-3FA0-B4338671BDC2}"/>
          </ac:spMkLst>
        </pc:spChg>
      </pc:sldChg>
      <pc:sldChg chg="new">
        <pc:chgData name="Darshini R R" userId="bd0932ba9f8cefee" providerId="LiveId" clId="{A03E458B-C56C-4480-B9CB-96286FFAD17C}" dt="2026-04-28T15:07:56.060" v="547" actId="680"/>
        <pc:sldMkLst>
          <pc:docMk/>
          <pc:sldMk cId="1985371840" sldId="275"/>
        </pc:sldMkLst>
      </pc:sldChg>
      <pc:sldChg chg="addSp modSp new mod">
        <pc:chgData name="Darshini R R" userId="bd0932ba9f8cefee" providerId="LiveId" clId="{A03E458B-C56C-4480-B9CB-96286FFAD17C}" dt="2026-04-28T15:11:03.781" v="557" actId="2711"/>
        <pc:sldMkLst>
          <pc:docMk/>
          <pc:sldMk cId="2013806337" sldId="276"/>
        </pc:sldMkLst>
        <pc:spChg chg="add mod">
          <ac:chgData name="Darshini R R" userId="bd0932ba9f8cefee" providerId="LiveId" clId="{A03E458B-C56C-4480-B9CB-96286FFAD17C}" dt="2026-04-28T15:11:03.781" v="557" actId="2711"/>
          <ac:spMkLst>
            <pc:docMk/>
            <pc:sldMk cId="2013806337" sldId="276"/>
            <ac:spMk id="4" creationId="{4B314E0A-6CF1-2D79-B601-A8574C0B73F8}"/>
          </ac:spMkLst>
        </pc:spChg>
      </pc:sldChg>
      <pc:sldChg chg="addSp modSp new mod">
        <pc:chgData name="Darshini R R" userId="bd0932ba9f8cefee" providerId="LiveId" clId="{A03E458B-C56C-4480-B9CB-96286FFAD17C}" dt="2026-04-28T15:25:30.747" v="600" actId="1076"/>
        <pc:sldMkLst>
          <pc:docMk/>
          <pc:sldMk cId="2749645237" sldId="277"/>
        </pc:sldMkLst>
        <pc:spChg chg="add mod">
          <ac:chgData name="Darshini R R" userId="bd0932ba9f8cefee" providerId="LiveId" clId="{A03E458B-C56C-4480-B9CB-96286FFAD17C}" dt="2026-04-28T15:25:30.747" v="600" actId="1076"/>
          <ac:spMkLst>
            <pc:docMk/>
            <pc:sldMk cId="2749645237" sldId="277"/>
            <ac:spMk id="4" creationId="{D9D7220D-94AA-D515-39E4-03490EAAE19A}"/>
          </ac:spMkLst>
        </pc:spChg>
      </pc:sldChg>
      <pc:sldChg chg="modSp new mod">
        <pc:chgData name="Darshini R R" userId="bd0932ba9f8cefee" providerId="LiveId" clId="{A03E458B-C56C-4480-B9CB-96286FFAD17C}" dt="2026-04-28T15:31:03.519" v="632" actId="20577"/>
        <pc:sldMkLst>
          <pc:docMk/>
          <pc:sldMk cId="274561465" sldId="278"/>
        </pc:sldMkLst>
        <pc:spChg chg="mod">
          <ac:chgData name="Darshini R R" userId="bd0932ba9f8cefee" providerId="LiveId" clId="{A03E458B-C56C-4480-B9CB-96286FFAD17C}" dt="2026-04-28T15:31:03.519" v="632" actId="20577"/>
          <ac:spMkLst>
            <pc:docMk/>
            <pc:sldMk cId="274561465" sldId="278"/>
            <ac:spMk id="2" creationId="{3EABF26C-F84F-2BFB-EE8B-B4F2DB3A744F}"/>
          </ac:spMkLst>
        </pc:spChg>
      </pc:sldChg>
      <pc:sldMasterChg chg="del delSldLayout">
        <pc:chgData name="Darshini R R" userId="bd0932ba9f8cefee" providerId="LiveId" clId="{A03E458B-C56C-4480-B9CB-96286FFAD17C}" dt="2026-04-28T13:10:12.578" v="2"/>
        <pc:sldMasterMkLst>
          <pc:docMk/>
          <pc:sldMasterMk cId="0" sldId="2147483667"/>
        </pc:sldMasterMkLst>
        <pc:sldLayoutChg chg="del">
          <pc:chgData name="Darshini R R" userId="bd0932ba9f8cefee" providerId="LiveId" clId="{A03E458B-C56C-4480-B9CB-96286FFAD17C}" dt="2026-04-28T13:10:12.578" v="2"/>
          <pc:sldLayoutMkLst>
            <pc:docMk/>
            <pc:sldMasterMk cId="0" sldId="2147483667"/>
            <pc:sldLayoutMk cId="0" sldId="2147483650"/>
          </pc:sldLayoutMkLst>
        </pc:sldLayoutChg>
      </pc:sldMasterChg>
      <pc:sldMasterChg chg="del delSldLayout">
        <pc:chgData name="Darshini R R" userId="bd0932ba9f8cefee" providerId="LiveId" clId="{A03E458B-C56C-4480-B9CB-96286FFAD17C}" dt="2026-04-28T13:10:12.578" v="2"/>
        <pc:sldMasterMkLst>
          <pc:docMk/>
          <pc:sldMasterMk cId="0" sldId="2147483668"/>
        </pc:sldMasterMkLst>
        <pc:sldLayoutChg chg="del">
          <pc:chgData name="Darshini R R" userId="bd0932ba9f8cefee" providerId="LiveId" clId="{A03E458B-C56C-4480-B9CB-96286FFAD17C}" dt="2026-04-28T13:10:12.578" v="2"/>
          <pc:sldLayoutMkLst>
            <pc:docMk/>
            <pc:sldMasterMk cId="0" sldId="2147483668"/>
            <pc:sldLayoutMk cId="0" sldId="2147483651"/>
          </pc:sldLayoutMkLst>
        </pc:sldLayoutChg>
      </pc:sldMasterChg>
      <pc:sldMasterChg chg="del delSldLayout">
        <pc:chgData name="Darshini R R" userId="bd0932ba9f8cefee" providerId="LiveId" clId="{A03E458B-C56C-4480-B9CB-96286FFAD17C}" dt="2026-04-28T13:10:12.578" v="2"/>
        <pc:sldMasterMkLst>
          <pc:docMk/>
          <pc:sldMasterMk cId="0" sldId="2147483669"/>
        </pc:sldMasterMkLst>
        <pc:sldLayoutChg chg="del">
          <pc:chgData name="Darshini R R" userId="bd0932ba9f8cefee" providerId="LiveId" clId="{A03E458B-C56C-4480-B9CB-96286FFAD17C}" dt="2026-04-28T13:10:12.578" v="2"/>
          <pc:sldLayoutMkLst>
            <pc:docMk/>
            <pc:sldMasterMk cId="0" sldId="2147483669"/>
            <pc:sldLayoutMk cId="0" sldId="2147483652"/>
          </pc:sldLayoutMkLst>
        </pc:sldLayoutChg>
      </pc:sldMasterChg>
      <pc:sldMasterChg chg="del delSldLayout">
        <pc:chgData name="Darshini R R" userId="bd0932ba9f8cefee" providerId="LiveId" clId="{A03E458B-C56C-4480-B9CB-96286FFAD17C}" dt="2026-04-28T13:10:12.578" v="2"/>
        <pc:sldMasterMkLst>
          <pc:docMk/>
          <pc:sldMasterMk cId="0" sldId="2147483670"/>
        </pc:sldMasterMkLst>
        <pc:sldLayoutChg chg="del">
          <pc:chgData name="Darshini R R" userId="bd0932ba9f8cefee" providerId="LiveId" clId="{A03E458B-C56C-4480-B9CB-96286FFAD17C}" dt="2026-04-28T13:10:12.578" v="2"/>
          <pc:sldLayoutMkLst>
            <pc:docMk/>
            <pc:sldMasterMk cId="0" sldId="2147483670"/>
            <pc:sldLayoutMk cId="0" sldId="2147483653"/>
          </pc:sldLayoutMkLst>
        </pc:sldLayoutChg>
      </pc:sldMasterChg>
      <pc:sldMasterChg chg="del delSldLayout">
        <pc:chgData name="Darshini R R" userId="bd0932ba9f8cefee" providerId="LiveId" clId="{A03E458B-C56C-4480-B9CB-96286FFAD17C}" dt="2026-04-28T13:10:12.578" v="2"/>
        <pc:sldMasterMkLst>
          <pc:docMk/>
          <pc:sldMasterMk cId="0" sldId="2147483671"/>
        </pc:sldMasterMkLst>
        <pc:sldLayoutChg chg="del">
          <pc:chgData name="Darshini R R" userId="bd0932ba9f8cefee" providerId="LiveId" clId="{A03E458B-C56C-4480-B9CB-96286FFAD17C}" dt="2026-04-28T13:10:12.578" v="2"/>
          <pc:sldLayoutMkLst>
            <pc:docMk/>
            <pc:sldMasterMk cId="0" sldId="2147483671"/>
            <pc:sldLayoutMk cId="0" sldId="2147483654"/>
          </pc:sldLayoutMkLst>
        </pc:sldLayoutChg>
      </pc:sldMasterChg>
      <pc:sldMasterChg chg="del delSldLayout">
        <pc:chgData name="Darshini R R" userId="bd0932ba9f8cefee" providerId="LiveId" clId="{A03E458B-C56C-4480-B9CB-96286FFAD17C}" dt="2026-04-28T13:10:12.578" v="2"/>
        <pc:sldMasterMkLst>
          <pc:docMk/>
          <pc:sldMasterMk cId="0" sldId="2147483672"/>
        </pc:sldMasterMkLst>
        <pc:sldLayoutChg chg="del">
          <pc:chgData name="Darshini R R" userId="bd0932ba9f8cefee" providerId="LiveId" clId="{A03E458B-C56C-4480-B9CB-96286FFAD17C}" dt="2026-04-28T13:10:12.578" v="2"/>
          <pc:sldLayoutMkLst>
            <pc:docMk/>
            <pc:sldMasterMk cId="0" sldId="2147483672"/>
            <pc:sldLayoutMk cId="0" sldId="2147483655"/>
          </pc:sldLayoutMkLst>
        </pc:sldLayoutChg>
      </pc:sldMasterChg>
      <pc:sldMasterChg chg="del delSldLayout">
        <pc:chgData name="Darshini R R" userId="bd0932ba9f8cefee" providerId="LiveId" clId="{A03E458B-C56C-4480-B9CB-96286FFAD17C}" dt="2026-04-28T13:10:12.578" v="2"/>
        <pc:sldMasterMkLst>
          <pc:docMk/>
          <pc:sldMasterMk cId="0" sldId="2147483673"/>
        </pc:sldMasterMkLst>
        <pc:sldLayoutChg chg="del">
          <pc:chgData name="Darshini R R" userId="bd0932ba9f8cefee" providerId="LiveId" clId="{A03E458B-C56C-4480-B9CB-96286FFAD17C}" dt="2026-04-28T13:10:12.578" v="2"/>
          <pc:sldLayoutMkLst>
            <pc:docMk/>
            <pc:sldMasterMk cId="0" sldId="2147483673"/>
            <pc:sldLayoutMk cId="0" sldId="2147483656"/>
          </pc:sldLayoutMkLst>
        </pc:sldLayoutChg>
      </pc:sldMasterChg>
      <pc:sldMasterChg chg="del delSldLayout">
        <pc:chgData name="Darshini R R" userId="bd0932ba9f8cefee" providerId="LiveId" clId="{A03E458B-C56C-4480-B9CB-96286FFAD17C}" dt="2026-04-28T13:10:12.578" v="2"/>
        <pc:sldMasterMkLst>
          <pc:docMk/>
          <pc:sldMasterMk cId="0" sldId="2147483674"/>
        </pc:sldMasterMkLst>
        <pc:sldLayoutChg chg="del">
          <pc:chgData name="Darshini R R" userId="bd0932ba9f8cefee" providerId="LiveId" clId="{A03E458B-C56C-4480-B9CB-96286FFAD17C}" dt="2026-04-28T13:10:12.578" v="2"/>
          <pc:sldLayoutMkLst>
            <pc:docMk/>
            <pc:sldMasterMk cId="0" sldId="2147483674"/>
            <pc:sldLayoutMk cId="0" sldId="2147483657"/>
          </pc:sldLayoutMkLst>
        </pc:sldLayoutChg>
      </pc:sldMasterChg>
      <pc:sldMasterChg chg="del delSldLayout">
        <pc:chgData name="Darshini R R" userId="bd0932ba9f8cefee" providerId="LiveId" clId="{A03E458B-C56C-4480-B9CB-96286FFAD17C}" dt="2026-04-28T13:10:12.578" v="2"/>
        <pc:sldMasterMkLst>
          <pc:docMk/>
          <pc:sldMasterMk cId="0" sldId="2147483675"/>
        </pc:sldMasterMkLst>
        <pc:sldLayoutChg chg="del">
          <pc:chgData name="Darshini R R" userId="bd0932ba9f8cefee" providerId="LiveId" clId="{A03E458B-C56C-4480-B9CB-96286FFAD17C}" dt="2026-04-28T13:10:12.578" v="2"/>
          <pc:sldLayoutMkLst>
            <pc:docMk/>
            <pc:sldMasterMk cId="0" sldId="2147483675"/>
            <pc:sldLayoutMk cId="0" sldId="2147483658"/>
          </pc:sldLayoutMkLst>
        </pc:sldLayoutChg>
      </pc:sldMasterChg>
      <pc:sldMasterChg chg="del delSldLayout">
        <pc:chgData name="Darshini R R" userId="bd0932ba9f8cefee" providerId="LiveId" clId="{A03E458B-C56C-4480-B9CB-96286FFAD17C}" dt="2026-04-28T13:10:12.578" v="2"/>
        <pc:sldMasterMkLst>
          <pc:docMk/>
          <pc:sldMasterMk cId="0" sldId="2147483676"/>
        </pc:sldMasterMkLst>
        <pc:sldLayoutChg chg="del">
          <pc:chgData name="Darshini R R" userId="bd0932ba9f8cefee" providerId="LiveId" clId="{A03E458B-C56C-4480-B9CB-96286FFAD17C}" dt="2026-04-28T13:10:12.578" v="2"/>
          <pc:sldLayoutMkLst>
            <pc:docMk/>
            <pc:sldMasterMk cId="0" sldId="2147483676"/>
            <pc:sldLayoutMk cId="0" sldId="2147483659"/>
          </pc:sldLayoutMkLst>
        </pc:sldLayoutChg>
      </pc:sldMasterChg>
      <pc:sldMasterChg chg="del delSldLayout">
        <pc:chgData name="Darshini R R" userId="bd0932ba9f8cefee" providerId="LiveId" clId="{A03E458B-C56C-4480-B9CB-96286FFAD17C}" dt="2026-04-28T13:10:12.578" v="2"/>
        <pc:sldMasterMkLst>
          <pc:docMk/>
          <pc:sldMasterMk cId="0" sldId="2147483677"/>
        </pc:sldMasterMkLst>
        <pc:sldLayoutChg chg="del">
          <pc:chgData name="Darshini R R" userId="bd0932ba9f8cefee" providerId="LiveId" clId="{A03E458B-C56C-4480-B9CB-96286FFAD17C}" dt="2026-04-28T13:10:12.578" v="2"/>
          <pc:sldLayoutMkLst>
            <pc:docMk/>
            <pc:sldMasterMk cId="0" sldId="2147483677"/>
            <pc:sldLayoutMk cId="0" sldId="2147483660"/>
          </pc:sldLayoutMkLst>
        </pc:sldLayoutChg>
      </pc:sldMasterChg>
      <pc:sldMasterChg chg="del delSldLayout">
        <pc:chgData name="Darshini R R" userId="bd0932ba9f8cefee" providerId="LiveId" clId="{A03E458B-C56C-4480-B9CB-96286FFAD17C}" dt="2026-04-28T13:10:12.578" v="2"/>
        <pc:sldMasterMkLst>
          <pc:docMk/>
          <pc:sldMasterMk cId="0" sldId="2147483678"/>
        </pc:sldMasterMkLst>
        <pc:sldLayoutChg chg="del">
          <pc:chgData name="Darshini R R" userId="bd0932ba9f8cefee" providerId="LiveId" clId="{A03E458B-C56C-4480-B9CB-96286FFAD17C}" dt="2026-04-28T13:10:12.578" v="2"/>
          <pc:sldLayoutMkLst>
            <pc:docMk/>
            <pc:sldMasterMk cId="0" sldId="2147483678"/>
            <pc:sldLayoutMk cId="0" sldId="2147483661"/>
          </pc:sldLayoutMkLst>
        </pc:sldLayoutChg>
      </pc:sldMasterChg>
      <pc:sldMasterChg chg="del delSldLayout">
        <pc:chgData name="Darshini R R" userId="bd0932ba9f8cefee" providerId="LiveId" clId="{A03E458B-C56C-4480-B9CB-96286FFAD17C}" dt="2026-04-28T13:10:12.578" v="2"/>
        <pc:sldMasterMkLst>
          <pc:docMk/>
          <pc:sldMasterMk cId="0" sldId="2147483679"/>
        </pc:sldMasterMkLst>
        <pc:sldLayoutChg chg="del">
          <pc:chgData name="Darshini R R" userId="bd0932ba9f8cefee" providerId="LiveId" clId="{A03E458B-C56C-4480-B9CB-96286FFAD17C}" dt="2026-04-28T13:10:12.578" v="2"/>
          <pc:sldLayoutMkLst>
            <pc:docMk/>
            <pc:sldMasterMk cId="0" sldId="2147483679"/>
            <pc:sldLayoutMk cId="0"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dirty="0"/>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dirty="0"/>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dirty="0"/>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dirty="0"/>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dirty="0"/>
          </a:p>
        </p:txBody>
      </p:sp>
    </p:spTree>
    <p:extLst>
      <p:ext uri="{BB962C8B-B14F-4D97-AF65-F5344CB8AC3E}">
        <p14:creationId xmlns:p14="http://schemas.microsoft.com/office/powerpoint/2010/main" val="4713306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dirty="0">
                <a:solidFill>
                  <a:srgbClr val="000000"/>
                </a:solidFill>
                <a:latin typeface="Arial"/>
                <a:ea typeface="Arial"/>
                <a:cs typeface="Arial"/>
                <a:sym typeface="Arial"/>
              </a:rPr>
              <a:t>Title of the project</a:t>
            </a:r>
            <a:endParaRPr dirty="0"/>
          </a:p>
        </p:txBody>
      </p:sp>
      <p:sp>
        <p:nvSpPr>
          <p:cNvPr id="684" name="Google Shape;684;p1: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dirty="0">
                <a:solidFill>
                  <a:srgbClr val="000000"/>
                </a:solidFill>
                <a:latin typeface="Arial"/>
                <a:ea typeface="Arial"/>
                <a:cs typeface="Arial"/>
                <a:sym typeface="Arial"/>
              </a:rPr>
              <a:t>CSE Dept., SET-Jain University</a:t>
            </a:r>
            <a:endParaRPr dirty="0"/>
          </a:p>
        </p:txBody>
      </p:sp>
      <p:sp>
        <p:nvSpPr>
          <p:cNvPr id="685" name="Google Shape;685;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a:t>
            </a:fld>
            <a:endParaRPr dirty="0"/>
          </a:p>
        </p:txBody>
      </p:sp>
      <p:sp>
        <p:nvSpPr>
          <p:cNvPr id="686" name="Google Shape;6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dirty="0"/>
          </a:p>
        </p:txBody>
      </p:sp>
      <p:sp>
        <p:nvSpPr>
          <p:cNvPr id="687" name="Google Shape;6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99" name="Google Shape;6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08" name="Google Shape;7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7" name="Google Shape;71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a:extLst>
            <a:ext uri="{FF2B5EF4-FFF2-40B4-BE49-F238E27FC236}">
              <a16:creationId xmlns="" xmlns:a16="http://schemas.microsoft.com/office/drawing/2014/main" id="{7B83877C-FB76-D37B-D6A6-B7C1BF03F9A5}"/>
            </a:ext>
          </a:extLst>
        </p:cNvPr>
        <p:cNvGrpSpPr/>
        <p:nvPr/>
      </p:nvGrpSpPr>
      <p:grpSpPr>
        <a:xfrm>
          <a:off x="0" y="0"/>
          <a:ext cx="0" cy="0"/>
          <a:chOff x="0" y="0"/>
          <a:chExt cx="0" cy="0"/>
        </a:xfrm>
      </p:grpSpPr>
      <p:sp>
        <p:nvSpPr>
          <p:cNvPr id="725" name="Google Shape;725;p5:notes">
            <a:extLst>
              <a:ext uri="{FF2B5EF4-FFF2-40B4-BE49-F238E27FC236}">
                <a16:creationId xmlns="" xmlns:a16="http://schemas.microsoft.com/office/drawing/2014/main" id="{B1030C22-24E6-C2E0-5AEC-490EDDEAE4C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26" name="Google Shape;726;p5:notes">
            <a:extLst>
              <a:ext uri="{FF2B5EF4-FFF2-40B4-BE49-F238E27FC236}">
                <a16:creationId xmlns="" xmlns:a16="http://schemas.microsoft.com/office/drawing/2014/main" id="{AE1DEC1E-E47F-35AB-AD3F-36F92C8BC14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4037712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44" name="Google Shape;74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44" name="Google Shape;74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5" name="Google Shape;73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83" name="Google Shape;78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2" name="Google Shape;79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01" name="Google Shape;80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82" name="Google Shape;82;p4"/>
          <p:cNvSpPr txBox="1">
            <a:spLocks noGrp="1"/>
          </p:cNvSpPr>
          <p:nvPr>
            <p:ph type="dt" idx="10"/>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3" name="Google Shape;83;p4"/>
          <p:cNvSpPr txBox="1">
            <a:spLocks noGrp="1"/>
          </p:cNvSpPr>
          <p:nvPr>
            <p:ph type="ftr" idx="1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4" name="Google Shape;84;p4"/>
          <p:cNvSpPr txBox="1">
            <a:spLocks noGrp="1"/>
          </p:cNvSpPr>
          <p:nvPr>
            <p:ph type="sldNum" idx="12"/>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9pPr>
          </a:lstStyle>
          <a:p>
            <a:pPr marL="0" lvl="0" indent="0" algn="ctr" rtl="0">
              <a:spcBef>
                <a:spcPts val="0"/>
              </a:spcBef>
              <a:spcAft>
                <a:spcPts val="0"/>
              </a:spcAft>
              <a:buNone/>
            </a:pPr>
            <a:r>
              <a:rPr lang="en-US" dirty="0"/>
              <a:t>(#)  of 12</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6148C-B2AA-F03B-C1FB-5B465A29638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18967CA4-3F71-2D5E-0F61-17E99EBA115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F51CACB-416E-4366-2490-9A913A16BEE0}"/>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5" name="Footer Placeholder 4">
            <a:extLst>
              <a:ext uri="{FF2B5EF4-FFF2-40B4-BE49-F238E27FC236}">
                <a16:creationId xmlns="" xmlns:a16="http://schemas.microsoft.com/office/drawing/2014/main" id="{6306880B-D189-587E-60F5-36A14B55847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A69A15DD-A2E0-A157-E434-F83D6A60C4E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31181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C6FB1D-EB77-90A5-8562-2DBE2D3E57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CFE09C38-0404-569F-5767-9121BD3055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F51A3D7-8921-C0ED-795F-78398D56E046}"/>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5" name="Footer Placeholder 4">
            <a:extLst>
              <a:ext uri="{FF2B5EF4-FFF2-40B4-BE49-F238E27FC236}">
                <a16:creationId xmlns="" xmlns:a16="http://schemas.microsoft.com/office/drawing/2014/main" id="{8B5A4789-044F-DB38-BC55-C1BA7B5F740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2889022B-01D2-6807-CCB9-6BCD1B6073D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089883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485160-A61A-EF41-DCE4-70BEED98CD6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EE80970-7E42-9C57-B13F-83B79B6608E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72126C-531B-1944-D2C5-7612F6A71633}"/>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5" name="Footer Placeholder 4">
            <a:extLst>
              <a:ext uri="{FF2B5EF4-FFF2-40B4-BE49-F238E27FC236}">
                <a16:creationId xmlns="" xmlns:a16="http://schemas.microsoft.com/office/drawing/2014/main" id="{855398CF-7D28-2365-ACDB-0593FFFE1E4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E2395570-604C-3818-8D3C-04F09DAF84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9033679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EE0997-B164-147E-20B3-88998C524B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69F320A-94B4-3BDC-B245-6DB83254760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41D807E9-939A-64AD-977F-B56B7D71AA6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ECB4845-9BC5-96C8-48C7-FBB3CE314542}"/>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6" name="Footer Placeholder 5">
            <a:extLst>
              <a:ext uri="{FF2B5EF4-FFF2-40B4-BE49-F238E27FC236}">
                <a16:creationId xmlns="" xmlns:a16="http://schemas.microsoft.com/office/drawing/2014/main" id="{1AA5FD6C-A7EA-0FCE-8C5E-56AB39B8878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8CC5D961-8D73-70E3-8CDA-889CFDAFD13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6575353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E46DF9-28C9-05C6-57E0-E175AAEF59F3}"/>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CF8165C-55F0-5CF6-B891-A0AD70A9FFF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C0557F0-DDB3-E34C-9E24-0391B9EE41C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1CDDD2B-5767-C37B-5AF4-874E3EAFDA8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78143D21-5E61-F7C0-EED6-E09069A27300}"/>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0ADFAAF6-65CB-7DDB-93DB-65C6B92819AD}"/>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8" name="Footer Placeholder 7">
            <a:extLst>
              <a:ext uri="{FF2B5EF4-FFF2-40B4-BE49-F238E27FC236}">
                <a16:creationId xmlns="" xmlns:a16="http://schemas.microsoft.com/office/drawing/2014/main" id="{18DE6DD4-341F-AFBF-9681-4BC47E7960EB}"/>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 xmlns:a16="http://schemas.microsoft.com/office/drawing/2014/main" id="{B8429B3F-FCA1-D9C4-774C-1D82BB5AE09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7427270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558071-13CA-AE36-D6FC-50584E126B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3AB2FF72-4497-E068-FD8D-D237B0E8F3AF}"/>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4" name="Footer Placeholder 3">
            <a:extLst>
              <a:ext uri="{FF2B5EF4-FFF2-40B4-BE49-F238E27FC236}">
                <a16:creationId xmlns="" xmlns:a16="http://schemas.microsoft.com/office/drawing/2014/main" id="{BE88404F-A11F-930C-3DA2-11EA49525A17}"/>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 xmlns:a16="http://schemas.microsoft.com/office/drawing/2014/main" id="{610D3B25-D5F3-9FCA-F79F-8F81D22AB4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1962078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A8BFB5D-DAAB-F7A6-CF53-FABF20F3D371}"/>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3" name="Footer Placeholder 2">
            <a:extLst>
              <a:ext uri="{FF2B5EF4-FFF2-40B4-BE49-F238E27FC236}">
                <a16:creationId xmlns="" xmlns:a16="http://schemas.microsoft.com/office/drawing/2014/main" id="{E85958D3-8AE8-7D4A-625A-C439DD6907B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 xmlns:a16="http://schemas.microsoft.com/office/drawing/2014/main" id="{0907A20E-3ECA-F417-EF17-BFBA95C5FCA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8488258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CD302-D8A9-1C17-CA7C-EEFADA745A3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C62EDCBD-3D6C-3372-0BD2-DF0441346E5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BA169DE-5214-CCAD-0895-492F51C9679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D829B301-1537-2C5A-5990-E64CA8D8C5CE}"/>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6" name="Footer Placeholder 5">
            <a:extLst>
              <a:ext uri="{FF2B5EF4-FFF2-40B4-BE49-F238E27FC236}">
                <a16:creationId xmlns="" xmlns:a16="http://schemas.microsoft.com/office/drawing/2014/main" id="{AC1A29A3-4E6C-D5B1-65B5-6D477F411F3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079E8149-4145-AD85-E12E-11A1A55884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7592922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038DD5-15E3-BA5D-AB15-FDCAE60B2EA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3F92D5DC-F6EF-EDEF-19B9-3FEAC19D0B7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dirty="0"/>
          </a:p>
        </p:txBody>
      </p:sp>
      <p:sp>
        <p:nvSpPr>
          <p:cNvPr id="4" name="Text Placeholder 3">
            <a:extLst>
              <a:ext uri="{FF2B5EF4-FFF2-40B4-BE49-F238E27FC236}">
                <a16:creationId xmlns="" xmlns:a16="http://schemas.microsoft.com/office/drawing/2014/main" id="{4DB50695-1025-154A-045C-876610E01C1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2B3DBF00-8B97-139C-6E90-DF4B78F44716}"/>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6" name="Footer Placeholder 5">
            <a:extLst>
              <a:ext uri="{FF2B5EF4-FFF2-40B4-BE49-F238E27FC236}">
                <a16:creationId xmlns="" xmlns:a16="http://schemas.microsoft.com/office/drawing/2014/main" id="{F2B4F866-6066-9107-E638-6F73E291426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9A9552ED-83DB-693A-2ACB-649546D4AC7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04037278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5C2B2A-128B-E2F6-0E48-47C82C6983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E8DA2FE-8867-43E0-48AE-7129A5BEE9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E0481C3-6E8D-B04B-E668-5A3D93290CC5}"/>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5" name="Footer Placeholder 4">
            <a:extLst>
              <a:ext uri="{FF2B5EF4-FFF2-40B4-BE49-F238E27FC236}">
                <a16:creationId xmlns="" xmlns:a16="http://schemas.microsoft.com/office/drawing/2014/main" id="{CED557E9-2DEE-08F4-C284-C592663D93C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AA5E2033-74F7-D199-2261-9C3EB80C11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6645752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3D8E106-794F-50D3-6F44-76F78570E3AD}"/>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63FEB3B-9C5F-A0FF-F669-85B49859A46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102F71D-1213-51B3-D12C-87E62D96EB8A}"/>
              </a:ext>
            </a:extLst>
          </p:cNvPr>
          <p:cNvSpPr>
            <a:spLocks noGrp="1"/>
          </p:cNvSpPr>
          <p:nvPr>
            <p:ph type="dt" sz="half" idx="10"/>
          </p:nvPr>
        </p:nvSpPr>
        <p:spPr/>
        <p:txBody>
          <a:bodyPr/>
          <a:lstStyle/>
          <a:p>
            <a:fld id="{FD881B53-EED4-4C83-9548-F7318BEDF55B}" type="datetimeFigureOut">
              <a:rPr lang="en-IN" smtClean="0"/>
              <a:t>29-04-2026</a:t>
            </a:fld>
            <a:endParaRPr lang="en-IN" dirty="0"/>
          </a:p>
        </p:txBody>
      </p:sp>
      <p:sp>
        <p:nvSpPr>
          <p:cNvPr id="5" name="Footer Placeholder 4">
            <a:extLst>
              <a:ext uri="{FF2B5EF4-FFF2-40B4-BE49-F238E27FC236}">
                <a16:creationId xmlns="" xmlns:a16="http://schemas.microsoft.com/office/drawing/2014/main" id="{453E2C90-3BA6-E63C-E540-3EB8CA4C517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DDF02051-59FA-7683-8ED0-67D1A01C3FB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6183313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chemeClr val="bg1">
                <a:lumMod val="85000"/>
              </a:schemeClr>
            </a:gs>
          </a:gsLst>
          <a:lin ang="5400000" scaled="0"/>
          <a:tileRect/>
        </a:gradFill>
        <a:effectLst/>
      </p:bgPr>
    </p:bg>
    <p:spTree>
      <p:nvGrpSpPr>
        <p:cNvPr id="1" name="Shape 45"/>
        <p:cNvGrpSpPr/>
        <p:nvPr/>
      </p:nvGrpSpPr>
      <p:grpSpPr>
        <a:xfrm>
          <a:off x="0" y="0"/>
          <a:ext cx="0" cy="0"/>
          <a:chOff x="0" y="0"/>
          <a:chExt cx="0" cy="0"/>
        </a:xfrm>
      </p:grpSpPr>
      <p:grpSp>
        <p:nvGrpSpPr>
          <p:cNvPr id="46" name="Google Shape;46;p3"/>
          <p:cNvGrpSpPr/>
          <p:nvPr/>
        </p:nvGrpSpPr>
        <p:grpSpPr>
          <a:xfrm>
            <a:off x="0" y="228600"/>
            <a:ext cx="1981200" cy="6638925"/>
            <a:chOff x="2487613" y="285750"/>
            <a:chExt cx="2428875" cy="5654676"/>
          </a:xfrm>
        </p:grpSpPr>
        <p:sp>
          <p:nvSpPr>
            <p:cNvPr id="47" name="Google Shape;47;p3"/>
            <p:cNvSpPr/>
            <p:nvPr/>
          </p:nvSpPr>
          <p:spPr>
            <a:xfrm>
              <a:off x="2487613" y="2284222"/>
              <a:ext cx="85633" cy="534098"/>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48" name="Google Shape;48;p3"/>
            <p:cNvSpPr/>
            <p:nvPr/>
          </p:nvSpPr>
          <p:spPr>
            <a:xfrm>
              <a:off x="2596601" y="2779108"/>
              <a:ext cx="550779" cy="1978191"/>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49" name="Google Shape;49;p3"/>
            <p:cNvSpPr/>
            <p:nvPr/>
          </p:nvSpPr>
          <p:spPr>
            <a:xfrm>
              <a:off x="3174627" y="4730255"/>
              <a:ext cx="519639" cy="1210171"/>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0" name="Google Shape;50;p3"/>
            <p:cNvSpPr/>
            <p:nvPr/>
          </p:nvSpPr>
          <p:spPr>
            <a:xfrm>
              <a:off x="3305023" y="5630785"/>
              <a:ext cx="145967" cy="309641"/>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1" name="Google Shape;51;p3"/>
            <p:cNvSpPr/>
            <p:nvPr/>
          </p:nvSpPr>
          <p:spPr>
            <a:xfrm>
              <a:off x="2573246" y="2818321"/>
              <a:ext cx="700637" cy="2834099"/>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2" name="Google Shape;52;p3"/>
            <p:cNvSpPr/>
            <p:nvPr/>
          </p:nvSpPr>
          <p:spPr>
            <a:xfrm>
              <a:off x="2507075" y="285750"/>
              <a:ext cx="89526" cy="2493358"/>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3" name="Google Shape;53;p3"/>
            <p:cNvSpPr/>
            <p:nvPr/>
          </p:nvSpPr>
          <p:spPr>
            <a:xfrm>
              <a:off x="2553784" y="2599273"/>
              <a:ext cx="68118" cy="420517"/>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4" name="Google Shape;54;p3"/>
            <p:cNvSpPr/>
            <p:nvPr/>
          </p:nvSpPr>
          <p:spPr>
            <a:xfrm>
              <a:off x="3143488" y="4757298"/>
              <a:ext cx="161535" cy="873487"/>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5" name="Google Shape;55;p3"/>
            <p:cNvSpPr/>
            <p:nvPr/>
          </p:nvSpPr>
          <p:spPr>
            <a:xfrm>
              <a:off x="3147380" y="1282282"/>
              <a:ext cx="1769108" cy="3447973"/>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6" name="Google Shape;56;p3"/>
            <p:cNvSpPr/>
            <p:nvPr/>
          </p:nvSpPr>
          <p:spPr>
            <a:xfrm>
              <a:off x="3273883" y="5652419"/>
              <a:ext cx="138182" cy="288007"/>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7" name="Google Shape;57;p3"/>
            <p:cNvSpPr/>
            <p:nvPr/>
          </p:nvSpPr>
          <p:spPr>
            <a:xfrm>
              <a:off x="3143488" y="4655887"/>
              <a:ext cx="31139" cy="189300"/>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58" name="Google Shape;58;p3"/>
            <p:cNvSpPr/>
            <p:nvPr/>
          </p:nvSpPr>
          <p:spPr>
            <a:xfrm>
              <a:off x="3211605" y="5410385"/>
              <a:ext cx="202406" cy="530041"/>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grpSp>
      <p:grpSp>
        <p:nvGrpSpPr>
          <p:cNvPr id="59" name="Google Shape;59;p3"/>
          <p:cNvGrpSpPr/>
          <p:nvPr/>
        </p:nvGrpSpPr>
        <p:grpSpPr>
          <a:xfrm>
            <a:off x="20637" y="0"/>
            <a:ext cx="1952625" cy="6853237"/>
            <a:chOff x="6627813" y="196102"/>
            <a:chExt cx="1952625" cy="5677649"/>
          </a:xfrm>
        </p:grpSpPr>
        <p:sp>
          <p:nvSpPr>
            <p:cNvPr id="60" name="Google Shape;60;p3"/>
            <p:cNvSpPr/>
            <p:nvPr/>
          </p:nvSpPr>
          <p:spPr>
            <a:xfrm>
              <a:off x="6627813" y="196102"/>
              <a:ext cx="409575" cy="3647005"/>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1" name="Google Shape;61;p3"/>
            <p:cNvSpPr/>
            <p:nvPr/>
          </p:nvSpPr>
          <p:spPr>
            <a:xfrm>
              <a:off x="7061200" y="3772087"/>
              <a:ext cx="350838" cy="1309923"/>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2" name="Google Shape;62;p3"/>
            <p:cNvSpPr/>
            <p:nvPr/>
          </p:nvSpPr>
          <p:spPr>
            <a:xfrm>
              <a:off x="7439025" y="5053076"/>
              <a:ext cx="357188" cy="820675"/>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3" name="Google Shape;63;p3"/>
            <p:cNvSpPr/>
            <p:nvPr/>
          </p:nvSpPr>
          <p:spPr>
            <a:xfrm>
              <a:off x="7037388" y="3811543"/>
              <a:ext cx="457200" cy="1853094"/>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4" name="Google Shape;64;p3"/>
            <p:cNvSpPr/>
            <p:nvPr/>
          </p:nvSpPr>
          <p:spPr>
            <a:xfrm>
              <a:off x="6992938" y="1264031"/>
              <a:ext cx="144462" cy="2508056"/>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5" name="Google Shape;65;p3"/>
            <p:cNvSpPr/>
            <p:nvPr/>
          </p:nvSpPr>
          <p:spPr>
            <a:xfrm>
              <a:off x="7526338" y="5640963"/>
              <a:ext cx="111125" cy="232788"/>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6" name="Google Shape;66;p3"/>
            <p:cNvSpPr/>
            <p:nvPr/>
          </p:nvSpPr>
          <p:spPr>
            <a:xfrm>
              <a:off x="7021513" y="3598483"/>
              <a:ext cx="68262" cy="424804"/>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7" name="Google Shape;67;p3"/>
            <p:cNvSpPr/>
            <p:nvPr/>
          </p:nvSpPr>
          <p:spPr>
            <a:xfrm>
              <a:off x="7412038" y="2801482"/>
              <a:ext cx="1168400" cy="225159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8" name="Google Shape;68;p3"/>
            <p:cNvSpPr/>
            <p:nvPr/>
          </p:nvSpPr>
          <p:spPr>
            <a:xfrm>
              <a:off x="7494588" y="5664636"/>
              <a:ext cx="100012" cy="209115"/>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69" name="Google Shape;69;p3"/>
            <p:cNvSpPr/>
            <p:nvPr/>
          </p:nvSpPr>
          <p:spPr>
            <a:xfrm>
              <a:off x="7412038" y="5082010"/>
              <a:ext cx="114300" cy="558953"/>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70" name="Google Shape;70;p3"/>
            <p:cNvSpPr/>
            <p:nvPr/>
          </p:nvSpPr>
          <p:spPr>
            <a:xfrm>
              <a:off x="7412038" y="4978110"/>
              <a:ext cx="31750" cy="189386"/>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71" name="Google Shape;71;p3"/>
            <p:cNvSpPr/>
            <p:nvPr/>
          </p:nvSpPr>
          <p:spPr>
            <a:xfrm>
              <a:off x="7439025" y="5434480"/>
              <a:ext cx="174625" cy="439271"/>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grpSp>
      <p:sp>
        <p:nvSpPr>
          <p:cNvPr id="72" name="Google Shape;72;p3"/>
          <p:cNvSpPr/>
          <p:nvPr/>
        </p:nvSpPr>
        <p:spPr>
          <a:xfrm>
            <a:off x="0" y="0"/>
            <a:ext cx="182562" cy="6858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73" name="Google Shape;73;p3"/>
          <p:cNvSpPr/>
          <p:nvPr/>
        </p:nvSpPr>
        <p:spPr>
          <a:xfrm rot="10800000" flipH="1">
            <a:off x="0" y="711200"/>
            <a:ext cx="1358900" cy="508000"/>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entury Gothic"/>
              <a:ea typeface="Century Gothic"/>
              <a:cs typeface="Century Gothic"/>
              <a:sym typeface="Century Gothic"/>
            </a:endParaRPr>
          </a:p>
        </p:txBody>
      </p:sp>
      <p:sp>
        <p:nvSpPr>
          <p:cNvPr id="74" name="Google Shape;74;p3"/>
          <p:cNvSpPr txBox="1">
            <a:spLocks noGrp="1"/>
          </p:cNvSpPr>
          <p:nvPr>
            <p:ph type="title"/>
          </p:nvPr>
        </p:nvSpPr>
        <p:spPr>
          <a:xfrm>
            <a:off x="1944687" y="623887"/>
            <a:ext cx="6589712" cy="12811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1pPr>
            <a:lvl2pPr marR="0" lvl="1"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2pPr>
            <a:lvl3pPr marR="0" lvl="2"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3pPr>
            <a:lvl4pPr marR="0" lvl="3"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4pPr>
            <a:lvl5pPr marR="0" lvl="4"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75" name="Google Shape;75;p3"/>
          <p:cNvSpPr txBox="1">
            <a:spLocks noGrp="1"/>
          </p:cNvSpPr>
          <p:nvPr>
            <p:ph type="body" idx="1"/>
          </p:nvPr>
        </p:nvSpPr>
        <p:spPr>
          <a:xfrm>
            <a:off x="1943100" y="2133600"/>
            <a:ext cx="6591300" cy="38862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1000"/>
              </a:spcBef>
              <a:spcAft>
                <a:spcPts val="0"/>
              </a:spcAft>
              <a:buClr>
                <a:schemeClr val="accent1"/>
              </a:buClr>
              <a:buSzPts val="3200"/>
              <a:buFont typeface="Noto Sans Symbols"/>
              <a:buChar char="🠶"/>
              <a:defRPr sz="3200" b="0" i="0" u="none" strike="noStrike" cap="none">
                <a:solidFill>
                  <a:srgbClr val="404040"/>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404040"/>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404040"/>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76" name="Google Shape;76;p3"/>
          <p:cNvSpPr txBox="1">
            <a:spLocks noGrp="1"/>
          </p:cNvSpPr>
          <p:nvPr>
            <p:ph type="dt" idx="10"/>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Century Gothic"/>
                <a:ea typeface="Century Gothic"/>
                <a:cs typeface="Century Gothic"/>
                <a:sym typeface="Century Gothic"/>
              </a:defRPr>
            </a:lvl1pPr>
            <a:lvl2pPr marR="0" lvl="1"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dirty="0"/>
          </a:p>
        </p:txBody>
      </p:sp>
      <p:sp>
        <p:nvSpPr>
          <p:cNvPr id="77" name="Google Shape;77;p3"/>
          <p:cNvSpPr txBox="1">
            <a:spLocks noGrp="1"/>
          </p:cNvSpPr>
          <p:nvPr>
            <p:ph type="ftr" idx="1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a:solidFill>
                  <a:srgbClr val="898989"/>
                </a:solidFill>
                <a:latin typeface="Century Gothic"/>
                <a:ea typeface="Century Gothic"/>
                <a:cs typeface="Century Gothic"/>
                <a:sym typeface="Century Gothic"/>
              </a:defRPr>
            </a:lvl1pPr>
            <a:lvl2pPr marR="0" lvl="1"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dirty="0"/>
          </a:p>
        </p:txBody>
      </p:sp>
      <p:sp>
        <p:nvSpPr>
          <p:cNvPr id="78" name="Google Shape;78;p3"/>
          <p:cNvSpPr txBox="1">
            <a:spLocks noGrp="1"/>
          </p:cNvSpPr>
          <p:nvPr>
            <p:ph type="sldNum" idx="12"/>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9pPr>
          </a:lstStyle>
          <a:p>
            <a:pPr marL="0" lvl="0" indent="0" algn="ctr" rtl="0">
              <a:spcBef>
                <a:spcPts val="0"/>
              </a:spcBef>
              <a:spcAft>
                <a:spcPts val="0"/>
              </a:spcAft>
              <a:buNone/>
            </a:pPr>
            <a:r>
              <a:rPr lang="en-US" dirty="0"/>
              <a:t>(#)  of 12</a:t>
            </a:r>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chemeClr val="bg1">
                <a:lumMod val="85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1AC74CF-A1DD-FF03-8329-B0C319518EB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7150580-7639-4A5F-CC86-79882E06E5B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B177334-DF8D-4DFD-F275-7CE9F4A80B0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5" name="Footer Placeholder 4">
            <a:extLst>
              <a:ext uri="{FF2B5EF4-FFF2-40B4-BE49-F238E27FC236}">
                <a16:creationId xmlns="" xmlns:a16="http://schemas.microsoft.com/office/drawing/2014/main" id="{4BD62093-4457-B314-D47F-4F94B81DAC5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dirty="0"/>
          </a:p>
        </p:txBody>
      </p:sp>
      <p:sp>
        <p:nvSpPr>
          <p:cNvPr id="6" name="Slide Number Placeholder 5">
            <a:extLst>
              <a:ext uri="{FF2B5EF4-FFF2-40B4-BE49-F238E27FC236}">
                <a16:creationId xmlns="" xmlns:a16="http://schemas.microsoft.com/office/drawing/2014/main" id="{5C9286B3-F702-7E4E-0CD8-80F228429E9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ctr" rtl="0">
              <a:spcBef>
                <a:spcPts val="0"/>
              </a:spcBef>
              <a:spcAft>
                <a:spcPts val="0"/>
              </a:spcAft>
              <a:buNone/>
            </a:pPr>
            <a:r>
              <a:rPr lang="en-US" dirty="0"/>
              <a:t>(#)  of 12</a:t>
            </a:r>
            <a:endParaRPr lang="en-US"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8939507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34"/>
          <p:cNvSpPr txBox="1"/>
          <p:nvPr/>
        </p:nvSpPr>
        <p:spPr>
          <a:xfrm>
            <a:off x="1036864" y="678656"/>
            <a:ext cx="7070271" cy="858837"/>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400"/>
              <a:buFont typeface="Cambria"/>
              <a:buNone/>
            </a:pPr>
            <a:r>
              <a:rPr lang="en-US" sz="2000" b="1" i="0" u="none" dirty="0">
                <a:solidFill>
                  <a:srgbClr val="0070C0"/>
                </a:solidFill>
                <a:latin typeface="Cambria"/>
                <a:ea typeface="Cambria"/>
                <a:cs typeface="Cambria"/>
                <a:sym typeface="Cambria"/>
              </a:rPr>
              <a:t>DAYANANDA SAGAR UNIVERSITY</a:t>
            </a:r>
            <a:endParaRPr lang="en-US" sz="1200" dirty="0"/>
          </a:p>
          <a:p>
            <a:pPr marL="0" marR="0" lvl="0" indent="0" algn="ctr" rtl="0">
              <a:lnSpc>
                <a:spcPct val="100000"/>
              </a:lnSpc>
              <a:spcBef>
                <a:spcPts val="400"/>
              </a:spcBef>
              <a:spcAft>
                <a:spcPts val="0"/>
              </a:spcAft>
              <a:buClr>
                <a:srgbClr val="0E5672"/>
              </a:buClr>
              <a:buSzPts val="2000"/>
              <a:buFont typeface="Cambria"/>
              <a:buNone/>
            </a:pPr>
            <a:r>
              <a:rPr lang="en-US" sz="1800" b="1" i="0" u="none" dirty="0">
                <a:solidFill>
                  <a:srgbClr val="0E5672"/>
                </a:solidFill>
                <a:latin typeface="Cambria"/>
                <a:ea typeface="Cambria"/>
                <a:cs typeface="Cambria"/>
                <a:sym typeface="Cambria"/>
              </a:rPr>
              <a:t>SCHOOL OF ENGINEERING</a:t>
            </a:r>
            <a:endParaRPr sz="1200" dirty="0"/>
          </a:p>
        </p:txBody>
      </p:sp>
      <p:sp>
        <p:nvSpPr>
          <p:cNvPr id="690" name="Google Shape;690;p34"/>
          <p:cNvSpPr txBox="1">
            <a:spLocks noGrp="1"/>
          </p:cNvSpPr>
          <p:nvPr>
            <p:ph type="subTitle" idx="1"/>
          </p:nvPr>
        </p:nvSpPr>
        <p:spPr>
          <a:xfrm>
            <a:off x="876300" y="2779712"/>
            <a:ext cx="7772400" cy="731837"/>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800"/>
              <a:buNone/>
            </a:pPr>
            <a:r>
              <a:rPr lang="en-US" sz="2800" b="1" dirty="0">
                <a:solidFill>
                  <a:srgbClr val="420408"/>
                </a:solidFill>
                <a:latin typeface="Calibri"/>
                <a:cs typeface="Calibri"/>
                <a:sym typeface="Calibri"/>
              </a:rPr>
              <a:t>INTELLIGENT ACCIDENT DETECTION AND ALERTING SYSTEM USING MACHINE LEARNING</a:t>
            </a:r>
          </a:p>
          <a:p>
            <a:pPr marL="0" lvl="0" indent="0" algn="ctr" rtl="0">
              <a:lnSpc>
                <a:spcPct val="100000"/>
              </a:lnSpc>
              <a:spcBef>
                <a:spcPts val="0"/>
              </a:spcBef>
              <a:spcAft>
                <a:spcPts val="0"/>
              </a:spcAft>
              <a:buSzPts val="2800"/>
              <a:buNone/>
            </a:pPr>
            <a:endParaRPr dirty="0"/>
          </a:p>
        </p:txBody>
      </p:sp>
      <p:sp>
        <p:nvSpPr>
          <p:cNvPr id="691" name="Google Shape;691;p34"/>
          <p:cNvSpPr txBox="1"/>
          <p:nvPr/>
        </p:nvSpPr>
        <p:spPr>
          <a:xfrm>
            <a:off x="2781300" y="4920044"/>
            <a:ext cx="3962400"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0" u="none" dirty="0">
                <a:solidFill>
                  <a:schemeClr val="dk1"/>
                </a:solidFill>
                <a:latin typeface="Arial"/>
                <a:ea typeface="Arial"/>
                <a:cs typeface="Arial"/>
                <a:sym typeface="Arial"/>
              </a:rPr>
              <a:t>Presented By:</a:t>
            </a:r>
            <a:endParaRPr lang="en-US" dirty="0"/>
          </a:p>
          <a:p>
            <a:pPr marL="0" marR="0" lvl="0" indent="0" algn="ctr" rtl="0">
              <a:lnSpc>
                <a:spcPct val="100000"/>
              </a:lnSpc>
              <a:spcBef>
                <a:spcPts val="0"/>
              </a:spcBef>
              <a:spcAft>
                <a:spcPts val="0"/>
              </a:spcAft>
              <a:buClr>
                <a:schemeClr val="dk1"/>
              </a:buClr>
              <a:buSzPts val="1800"/>
              <a:buFont typeface="Arial"/>
              <a:buNone/>
            </a:pPr>
            <a:r>
              <a:rPr lang="en-US" sz="1800" b="1" i="0" u="none" dirty="0">
                <a:solidFill>
                  <a:schemeClr val="dk1"/>
                </a:solidFill>
                <a:latin typeface="Arial"/>
                <a:ea typeface="Arial"/>
                <a:cs typeface="Arial"/>
                <a:sym typeface="Arial"/>
              </a:rPr>
              <a:t>   Arpita </a:t>
            </a:r>
            <a:r>
              <a:rPr lang="en-US" sz="1800" b="1" i="0" u="none" dirty="0" smtClean="0">
                <a:solidFill>
                  <a:schemeClr val="dk1"/>
                </a:solidFill>
                <a:latin typeface="Arial"/>
                <a:ea typeface="Arial"/>
                <a:cs typeface="Arial"/>
                <a:sym typeface="Arial"/>
              </a:rPr>
              <a:t>            (</a:t>
            </a:r>
            <a:r>
              <a:rPr lang="en-US" sz="1800" b="1" i="0" u="none" dirty="0">
                <a:solidFill>
                  <a:schemeClr val="dk1"/>
                </a:solidFill>
                <a:latin typeface="Arial"/>
                <a:ea typeface="Arial"/>
                <a:cs typeface="Arial"/>
                <a:sym typeface="Arial"/>
              </a:rPr>
              <a:t>ENG23CS0024)</a:t>
            </a:r>
            <a:endParaRPr dirty="0"/>
          </a:p>
          <a:p>
            <a:pPr marL="0" marR="0" lvl="0" indent="0" algn="ctr" rtl="0">
              <a:lnSpc>
                <a:spcPct val="100000"/>
              </a:lnSpc>
              <a:spcBef>
                <a:spcPts val="0"/>
              </a:spcBef>
              <a:spcAft>
                <a:spcPts val="0"/>
              </a:spcAft>
              <a:buClr>
                <a:schemeClr val="dk1"/>
              </a:buClr>
              <a:buSzPts val="1800"/>
              <a:buFont typeface="Arial"/>
              <a:buNone/>
            </a:pPr>
            <a:r>
              <a:rPr lang="en-US" sz="1800" b="1" dirty="0">
                <a:solidFill>
                  <a:schemeClr val="dk1"/>
                </a:solidFill>
              </a:rPr>
              <a:t>Bhuvana A </a:t>
            </a:r>
            <a:r>
              <a:rPr lang="en-US" sz="1800" b="1" dirty="0" smtClean="0">
                <a:solidFill>
                  <a:schemeClr val="dk1"/>
                </a:solidFill>
              </a:rPr>
              <a:t>M   </a:t>
            </a:r>
            <a:r>
              <a:rPr lang="en-US" sz="1800" b="1" i="0" u="none" dirty="0" smtClean="0">
                <a:solidFill>
                  <a:schemeClr val="dk1"/>
                </a:solidFill>
                <a:latin typeface="Arial"/>
                <a:ea typeface="Arial"/>
                <a:cs typeface="Arial"/>
                <a:sym typeface="Arial"/>
              </a:rPr>
              <a:t> </a:t>
            </a:r>
            <a:r>
              <a:rPr lang="en-US" sz="1800" b="1" i="0" u="none" dirty="0">
                <a:solidFill>
                  <a:schemeClr val="dk1"/>
                </a:solidFill>
                <a:latin typeface="Arial"/>
                <a:ea typeface="Arial"/>
                <a:cs typeface="Arial"/>
                <a:sym typeface="Arial"/>
              </a:rPr>
              <a:t>(ENG23CS0037)</a:t>
            </a:r>
          </a:p>
          <a:p>
            <a:pPr marL="0" marR="0" lvl="0" indent="0" algn="ctr" rtl="0">
              <a:lnSpc>
                <a:spcPct val="100000"/>
              </a:lnSpc>
              <a:spcBef>
                <a:spcPts val="0"/>
              </a:spcBef>
              <a:spcAft>
                <a:spcPts val="0"/>
              </a:spcAft>
              <a:buClr>
                <a:schemeClr val="dk1"/>
              </a:buClr>
              <a:buSzPts val="1800"/>
              <a:buFont typeface="Arial"/>
              <a:buNone/>
            </a:pPr>
            <a:r>
              <a:rPr lang="en-US" sz="1800" b="1" dirty="0">
                <a:solidFill>
                  <a:schemeClr val="dk1"/>
                </a:solidFill>
              </a:rPr>
              <a:t>Darshini </a:t>
            </a:r>
            <a:r>
              <a:rPr lang="en-US" sz="1800" b="1" dirty="0" smtClean="0">
                <a:solidFill>
                  <a:schemeClr val="dk1"/>
                </a:solidFill>
              </a:rPr>
              <a:t>R         (</a:t>
            </a:r>
            <a:r>
              <a:rPr lang="en-US" sz="1800" b="1" dirty="0">
                <a:solidFill>
                  <a:schemeClr val="dk1"/>
                </a:solidFill>
              </a:rPr>
              <a:t>ENG23CS0053)</a:t>
            </a:r>
            <a:endParaRPr dirty="0"/>
          </a:p>
          <a:p>
            <a:pPr marL="0" marR="0" lvl="0" indent="0" algn="l" rtl="0">
              <a:lnSpc>
                <a:spcPct val="100000"/>
              </a:lnSpc>
              <a:spcBef>
                <a:spcPts val="0"/>
              </a:spcBef>
              <a:spcAft>
                <a:spcPts val="0"/>
              </a:spcAft>
              <a:buNone/>
            </a:pPr>
            <a:endParaRPr sz="1800" b="1" i="0" u="none" dirty="0">
              <a:solidFill>
                <a:schemeClr val="dk1"/>
              </a:solidFill>
              <a:latin typeface="Arial"/>
              <a:ea typeface="Arial"/>
              <a:cs typeface="Arial"/>
              <a:sym typeface="Arial"/>
            </a:endParaRPr>
          </a:p>
        </p:txBody>
      </p:sp>
      <p:sp>
        <p:nvSpPr>
          <p:cNvPr id="692" name="Google Shape;692;p34"/>
          <p:cNvSpPr txBox="1"/>
          <p:nvPr/>
        </p:nvSpPr>
        <p:spPr>
          <a:xfrm>
            <a:off x="1619250" y="2084387"/>
            <a:ext cx="5905500"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2400"/>
              <a:buFont typeface="Calibri"/>
              <a:buNone/>
            </a:pPr>
            <a:r>
              <a:rPr lang="en-US" sz="2400" b="1" dirty="0">
                <a:solidFill>
                  <a:srgbClr val="0070C0"/>
                </a:solidFill>
                <a:latin typeface="Calibri"/>
                <a:ea typeface="Calibri"/>
                <a:cs typeface="Calibri"/>
                <a:sym typeface="Calibri"/>
              </a:rPr>
              <a:t>Minor project</a:t>
            </a:r>
            <a:r>
              <a:rPr lang="en-US" sz="2400" b="1" i="0" u="none" dirty="0">
                <a:solidFill>
                  <a:srgbClr val="0070C0"/>
                </a:solidFill>
                <a:latin typeface="Calibri"/>
                <a:ea typeface="Calibri"/>
                <a:cs typeface="Calibri"/>
                <a:sym typeface="Calibri"/>
              </a:rPr>
              <a:t> Review </a:t>
            </a:r>
            <a:endParaRPr dirty="0"/>
          </a:p>
        </p:txBody>
      </p:sp>
      <p:sp>
        <p:nvSpPr>
          <p:cNvPr id="694" name="Google Shape;694;p34"/>
          <p:cNvSpPr txBox="1"/>
          <p:nvPr/>
        </p:nvSpPr>
        <p:spPr>
          <a:xfrm>
            <a:off x="523503" y="1314449"/>
            <a:ext cx="8763000" cy="7318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D0D47"/>
              </a:buClr>
              <a:buSzPts val="2800"/>
              <a:buFont typeface="Calibri"/>
              <a:buNone/>
            </a:pPr>
            <a:r>
              <a:rPr lang="en-US" sz="2400" b="1" i="0" u="none" dirty="0">
                <a:solidFill>
                  <a:srgbClr val="0D0D47"/>
                </a:solidFill>
                <a:latin typeface="Calibri"/>
                <a:ea typeface="Calibri"/>
                <a:cs typeface="Calibri"/>
                <a:sym typeface="Calibri"/>
              </a:rPr>
              <a:t>Department of Computer Science and Engineering</a:t>
            </a:r>
            <a:endParaRPr sz="1200" dirty="0"/>
          </a:p>
        </p:txBody>
      </p:sp>
      <p:sp>
        <p:nvSpPr>
          <p:cNvPr id="695" name="Google Shape;695;p34"/>
          <p:cNvSpPr txBox="1"/>
          <p:nvPr/>
        </p:nvSpPr>
        <p:spPr>
          <a:xfrm>
            <a:off x="1809750" y="3887787"/>
            <a:ext cx="59055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3217"/>
              </a:buClr>
              <a:buSzPts val="2000"/>
              <a:buFont typeface="Calibri"/>
              <a:buNone/>
            </a:pPr>
            <a:r>
              <a:rPr lang="en-US" sz="2000" b="1" i="0" u="none" dirty="0">
                <a:solidFill>
                  <a:srgbClr val="003217"/>
                </a:solidFill>
                <a:latin typeface="Calibri"/>
                <a:ea typeface="Calibri"/>
                <a:cs typeface="Calibri"/>
                <a:sym typeface="Calibri"/>
              </a:rPr>
              <a:t>Under the Supervision</a:t>
            </a:r>
            <a:endParaRPr dirty="0"/>
          </a:p>
          <a:p>
            <a:pPr marL="0" marR="0" lvl="0" indent="0" algn="ctr" rtl="0">
              <a:lnSpc>
                <a:spcPct val="100000"/>
              </a:lnSpc>
              <a:spcBef>
                <a:spcPts val="0"/>
              </a:spcBef>
              <a:spcAft>
                <a:spcPts val="0"/>
              </a:spcAft>
              <a:buClr>
                <a:srgbClr val="003217"/>
              </a:buClr>
              <a:buSzPts val="2000"/>
              <a:buFont typeface="Calibri"/>
              <a:buNone/>
            </a:pPr>
            <a:r>
              <a:rPr lang="en-US" sz="2000" b="1" i="0" u="none" dirty="0">
                <a:solidFill>
                  <a:srgbClr val="003217"/>
                </a:solidFill>
                <a:latin typeface="Calibri"/>
                <a:ea typeface="Calibri"/>
                <a:cs typeface="Calibri"/>
                <a:sym typeface="Calibri"/>
              </a:rPr>
              <a:t> </a:t>
            </a:r>
            <a:r>
              <a:rPr lang="en-US" sz="2000" b="1" i="0" u="none" dirty="0" smtClean="0">
                <a:solidFill>
                  <a:srgbClr val="003217"/>
                </a:solidFill>
                <a:latin typeface="Calibri"/>
                <a:ea typeface="Calibri"/>
                <a:cs typeface="Calibri"/>
                <a:sym typeface="Calibri"/>
              </a:rPr>
              <a:t>Dr. Shreekant </a:t>
            </a:r>
            <a:r>
              <a:rPr lang="en-US" sz="2000" b="1" i="0" u="none" dirty="0">
                <a:solidFill>
                  <a:srgbClr val="003217"/>
                </a:solidFill>
                <a:latin typeface="Calibri"/>
                <a:ea typeface="Calibri"/>
                <a:cs typeface="Calibri"/>
                <a:sym typeface="Calibri"/>
              </a:rPr>
              <a:t>Salotagi</a:t>
            </a:r>
            <a:endParaRPr dirty="0"/>
          </a:p>
          <a:p>
            <a:pPr lvl="0" algn="ctr">
              <a:buClr>
                <a:srgbClr val="003217"/>
              </a:buClr>
              <a:buSzPts val="2000"/>
            </a:pPr>
            <a:r>
              <a:rPr lang="en-IN" sz="1600" b="1" dirty="0"/>
              <a:t>Assistant Professor</a:t>
            </a:r>
            <a:r>
              <a:rPr lang="en-IN" sz="1600" dirty="0"/>
              <a:t> </a:t>
            </a:r>
            <a:endParaRPr sz="1600" dirty="0"/>
          </a:p>
        </p:txBody>
      </p:sp>
      <p:sp>
        <p:nvSpPr>
          <p:cNvPr id="696" name="Google Shape;696;p34"/>
          <p:cNvSpPr txBox="1"/>
          <p:nvPr/>
        </p:nvSpPr>
        <p:spPr>
          <a:xfrm>
            <a:off x="423862" y="4529137"/>
            <a:ext cx="584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EFFFF"/>
              </a:buClr>
              <a:buSzPts val="2000"/>
              <a:buFont typeface="Century Gothic"/>
              <a:buNone/>
            </a:pPr>
            <a:fld id="{00000000-1234-1234-1234-123412341234}" type="slidenum">
              <a:rPr lang="en-US" sz="2000" b="0" i="0" u="none">
                <a:solidFill>
                  <a:srgbClr val="FEFFFF"/>
                </a:solidFill>
                <a:latin typeface="Century Gothic"/>
                <a:ea typeface="Century Gothic"/>
                <a:cs typeface="Century Gothic"/>
                <a:sym typeface="Century Gothic"/>
              </a:rPr>
              <a:t>1</a:t>
            </a:fld>
            <a:endParaRPr dirty="0"/>
          </a:p>
        </p:txBody>
      </p:sp>
      <p:pic>
        <p:nvPicPr>
          <p:cNvPr id="2" name="Picture 1">
            <a:extLst>
              <a:ext uri="{FF2B5EF4-FFF2-40B4-BE49-F238E27FC236}">
                <a16:creationId xmlns="" xmlns:a16="http://schemas.microsoft.com/office/drawing/2014/main" id="{71F3618D-034D-19D6-89B4-3D3A502187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5355" y="0"/>
            <a:ext cx="2238645" cy="1074737"/>
          </a:xfrm>
          <a:prstGeom prst="rect">
            <a:avLst/>
          </a:prstGeom>
          <a:noFill/>
          <a:ln>
            <a:noFill/>
          </a:ln>
        </p:spPr>
      </p:pic>
      <p:pic>
        <p:nvPicPr>
          <p:cNvPr id="1026" name="Picture 2">
            <a:extLst>
              <a:ext uri="{FF2B5EF4-FFF2-40B4-BE49-F238E27FC236}">
                <a16:creationId xmlns="" xmlns:a16="http://schemas.microsoft.com/office/drawing/2014/main" id="{40C2886C-3DE8-E490-7780-D1F126166B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864" y="183769"/>
            <a:ext cx="1901895" cy="6283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35"/>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Overview</a:t>
            </a:r>
            <a:endParaRPr dirty="0"/>
          </a:p>
        </p:txBody>
      </p:sp>
      <p:sp>
        <p:nvSpPr>
          <p:cNvPr id="703" name="Google Shape;703;p35"/>
          <p:cNvSpPr txBox="1"/>
          <p:nvPr/>
        </p:nvSpPr>
        <p:spPr>
          <a:xfrm>
            <a:off x="950912" y="6165850"/>
            <a:ext cx="10668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04" name="Google Shape;704;p35"/>
          <p:cNvSpPr txBox="1"/>
          <p:nvPr/>
        </p:nvSpPr>
        <p:spPr>
          <a:xfrm>
            <a:off x="2930769" y="6102350"/>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705" name="Google Shape;705;p35"/>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2</a:t>
            </a:fld>
            <a:r>
              <a:rPr lang="en-US" sz="900" b="0" i="0" u="none" dirty="0">
                <a:solidFill>
                  <a:srgbClr val="898989"/>
                </a:solidFill>
                <a:latin typeface="Century Gothic"/>
                <a:ea typeface="Century Gothic"/>
                <a:cs typeface="Century Gothic"/>
                <a:sym typeface="Century Gothic"/>
              </a:rPr>
              <a:t> of 12</a:t>
            </a:r>
            <a:endParaRPr dirty="0"/>
          </a:p>
        </p:txBody>
      </p:sp>
      <p:sp>
        <p:nvSpPr>
          <p:cNvPr id="2" name="Content Placeholder 2">
            <a:extLst>
              <a:ext uri="{FF2B5EF4-FFF2-40B4-BE49-F238E27FC236}">
                <a16:creationId xmlns="" xmlns:a16="http://schemas.microsoft.com/office/drawing/2014/main" id="{9C4E7AB9-39F2-B08F-3FA3-8CCDA9F2D15D}"/>
              </a:ext>
            </a:extLst>
          </p:cNvPr>
          <p:cNvSpPr txBox="1">
            <a:spLocks noChangeArrowheads="1"/>
          </p:cNvSpPr>
          <p:nvPr/>
        </p:nvSpPr>
        <p:spPr>
          <a:xfrm>
            <a:off x="1276350" y="1270660"/>
            <a:ext cx="6591300" cy="39417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000"/>
              </a:spcBef>
              <a:spcAft>
                <a:spcPts val="0"/>
              </a:spcAft>
              <a:buClr>
                <a:schemeClr val="accent1"/>
              </a:buClr>
              <a:buSzPts val="1800"/>
              <a:buFont typeface="Noto Sans Symbols"/>
              <a:buChar char="🠶"/>
              <a:defRPr sz="3200" b="0" i="0" u="none" strike="noStrike" cap="none">
                <a:solidFill>
                  <a:srgbClr val="404040"/>
                </a:solidFill>
                <a:latin typeface="Century Gothic"/>
                <a:ea typeface="Century Gothic"/>
                <a:cs typeface="Century Gothic"/>
                <a:sym typeface="Century Gothic"/>
              </a:defRPr>
            </a:lvl1pPr>
            <a:lvl2pPr marL="914400" marR="0" lvl="1" indent="-342900" algn="l" rtl="0">
              <a:lnSpc>
                <a:spcPct val="100000"/>
              </a:lnSpc>
              <a:spcBef>
                <a:spcPts val="1000"/>
              </a:spcBef>
              <a:spcAft>
                <a:spcPts val="0"/>
              </a:spcAft>
              <a:buClr>
                <a:schemeClr val="accent1"/>
              </a:buClr>
              <a:buSzPts val="1800"/>
              <a:buFont typeface="Noto Sans Symbols"/>
              <a:buChar char="🠶"/>
              <a:defRPr sz="1600" b="0" i="0" u="none" strike="noStrike" cap="none">
                <a:solidFill>
                  <a:srgbClr val="404040"/>
                </a:solidFill>
                <a:latin typeface="Century Gothic"/>
                <a:ea typeface="Century Gothic"/>
                <a:cs typeface="Century Gothic"/>
                <a:sym typeface="Century Gothic"/>
              </a:defRPr>
            </a:lvl2pPr>
            <a:lvl3pPr marL="1371600" marR="0" lvl="2" indent="-342900" algn="l" rtl="0">
              <a:lnSpc>
                <a:spcPct val="100000"/>
              </a:lnSpc>
              <a:spcBef>
                <a:spcPts val="1000"/>
              </a:spcBef>
              <a:spcAft>
                <a:spcPts val="0"/>
              </a:spcAft>
              <a:buClr>
                <a:schemeClr val="accent1"/>
              </a:buClr>
              <a:buSzPts val="1800"/>
              <a:buFont typeface="Noto Sans Symbols"/>
              <a:buChar char="🠶"/>
              <a:defRPr sz="1400" b="0" i="0" u="none" strike="noStrike" cap="none">
                <a:solidFill>
                  <a:srgbClr val="404040"/>
                </a:solidFill>
                <a:latin typeface="Century Gothic"/>
                <a:ea typeface="Century Gothic"/>
                <a:cs typeface="Century Gothic"/>
                <a:sym typeface="Century Gothic"/>
              </a:defRPr>
            </a:lvl3pPr>
            <a:lvl4pPr marL="1828800" marR="0" lvl="3"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404040"/>
                </a:solidFill>
                <a:latin typeface="Century Gothic"/>
                <a:ea typeface="Century Gothic"/>
                <a:cs typeface="Century Gothic"/>
                <a:sym typeface="Century Gothic"/>
              </a:defRPr>
            </a:lvl4pPr>
            <a:lvl5pPr marL="2286000" marR="0" lvl="4"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404040"/>
                </a:solidFill>
                <a:latin typeface="Century Gothic"/>
                <a:ea typeface="Century Gothic"/>
                <a:cs typeface="Century Gothic"/>
                <a:sym typeface="Century Gothic"/>
              </a:defRPr>
            </a:lvl5pPr>
            <a:lvl6pPr marL="2743200" marR="0" lvl="5"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42900" algn="l" rtl="0">
              <a:lnSpc>
                <a:spcPct val="100000"/>
              </a:lnSpc>
              <a:spcBef>
                <a:spcPts val="1000"/>
              </a:spcBef>
              <a:spcAft>
                <a:spcPts val="0"/>
              </a:spcAft>
              <a:buClr>
                <a:schemeClr val="accent1"/>
              </a:buClr>
              <a:buSzPts val="18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pPr>
              <a:buFont typeface="Courier New" panose="02070309020205020404" pitchFamily="49" charset="0"/>
              <a:buChar char="o"/>
            </a:pPr>
            <a:r>
              <a:rPr lang="en-IN" altLang="en-US" sz="1800" dirty="0">
                <a:latin typeface="Times New Roman" panose="02020603050405020304" pitchFamily="18" charset="0"/>
                <a:cs typeface="Times New Roman" panose="02020603050405020304" pitchFamily="18" charset="0"/>
              </a:rPr>
              <a:t>Abstract</a:t>
            </a:r>
          </a:p>
          <a:p>
            <a:pPr>
              <a:buFont typeface="Courier New" panose="02070309020205020404" pitchFamily="49" charset="0"/>
              <a:buChar char="o"/>
            </a:pPr>
            <a:r>
              <a:rPr lang="en-IN" altLang="en-US" sz="1800" dirty="0">
                <a:latin typeface="Times New Roman" panose="02020603050405020304" pitchFamily="18" charset="0"/>
                <a:cs typeface="Times New Roman" panose="02020603050405020304" pitchFamily="18" charset="0"/>
              </a:rPr>
              <a:t>Problem Statement</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Objectives</a:t>
            </a:r>
            <a:endParaRPr lang="en-IN" altLang="en-US" sz="1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IN" altLang="en-US" sz="1800" dirty="0">
                <a:latin typeface="Times New Roman" panose="02020603050405020304" pitchFamily="18" charset="0"/>
                <a:cs typeface="Times New Roman" panose="02020603050405020304" pitchFamily="18" charset="0"/>
              </a:rPr>
              <a:t>Introduction</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Literature Survey(</a:t>
            </a:r>
            <a:r>
              <a:rPr lang="en-US" sz="1800" dirty="0" smtClean="0">
                <a:latin typeface="Times New Roman" panose="02020603050405020304" pitchFamily="18" charset="0"/>
                <a:cs typeface="Times New Roman" panose="02020603050405020304" pitchFamily="18" charset="0"/>
                <a:sym typeface="Calibri"/>
              </a:rPr>
              <a:t>State of </a:t>
            </a:r>
            <a:r>
              <a:rPr lang="en-US" sz="1800" dirty="0">
                <a:latin typeface="Times New Roman" panose="02020603050405020304" pitchFamily="18" charset="0"/>
                <a:cs typeface="Times New Roman" panose="02020603050405020304" pitchFamily="18" charset="0"/>
                <a:sym typeface="Calibri"/>
              </a:rPr>
              <a:t>the Art-work)</a:t>
            </a:r>
            <a:endParaRPr lang="en-IN" sz="1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IN" altLang="en-US" sz="1800" dirty="0">
                <a:latin typeface="Times New Roman" panose="02020603050405020304" pitchFamily="18" charset="0"/>
                <a:cs typeface="Times New Roman" panose="02020603050405020304" pitchFamily="18" charset="0"/>
              </a:rPr>
              <a:t>Social/Environmental Impact (If applicable)</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Proposed Methodology</a:t>
            </a:r>
          </a:p>
          <a:p>
            <a:pPr>
              <a:buFont typeface="Courier New" panose="02070309020205020404" pitchFamily="49" charset="0"/>
              <a:buChar char="o"/>
            </a:pPr>
            <a:r>
              <a:rPr lang="en-IN" altLang="en-US" sz="1800" dirty="0">
                <a:latin typeface="Times New Roman" panose="02020603050405020304" pitchFamily="18" charset="0"/>
                <a:cs typeface="Times New Roman" panose="02020603050405020304" pitchFamily="18" charset="0"/>
              </a:rPr>
              <a:t>Design &amp; </a:t>
            </a:r>
            <a:r>
              <a:rPr lang="en-IN" sz="1800" dirty="0">
                <a:latin typeface="Times New Roman" panose="02020603050405020304" pitchFamily="18" charset="0"/>
                <a:cs typeface="Times New Roman" panose="02020603050405020304" pitchFamily="18" charset="0"/>
              </a:rPr>
              <a:t>Implementation</a:t>
            </a:r>
            <a:endParaRPr lang="en-IN" altLang="en-US" sz="1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Demo (Very Important)</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Results &amp; Discussion</a:t>
            </a:r>
            <a:endParaRPr lang="en-IN" altLang="en-US" sz="1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Conclusion &amp; Future Scope</a:t>
            </a:r>
          </a:p>
          <a:p>
            <a:pPr>
              <a:buFont typeface="Courier New" panose="02070309020205020404" pitchFamily="49" charset="0"/>
              <a:buChar char="o"/>
            </a:pPr>
            <a:r>
              <a:rPr lang="en-IN" altLang="en-US" sz="1800" dirty="0" smtClean="0">
                <a:latin typeface="Times New Roman" panose="02020603050405020304" pitchFamily="18" charset="0"/>
                <a:cs typeface="Times New Roman" panose="02020603050405020304" pitchFamily="18" charset="0"/>
              </a:rPr>
              <a:t>References</a:t>
            </a:r>
            <a:endParaRPr lang="en-IN" altLang="en-US" sz="1600" dirty="0">
              <a:latin typeface="Times New Roman" panose="02020603050405020304" pitchFamily="18" charset="0"/>
              <a:cs typeface="Times New Roman" panose="02020603050405020304" pitchFamily="18" charset="0"/>
            </a:endParaRPr>
          </a:p>
          <a:p>
            <a:endParaRPr lang="en-IN"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36"/>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Abstract</a:t>
            </a:r>
            <a:endParaRPr dirty="0"/>
          </a:p>
        </p:txBody>
      </p:sp>
      <p:sp>
        <p:nvSpPr>
          <p:cNvPr id="711" name="Google Shape;711;p36"/>
          <p:cNvSpPr txBox="1">
            <a:spLocks noGrp="1"/>
          </p:cNvSpPr>
          <p:nvPr>
            <p:ph type="body" idx="1"/>
          </p:nvPr>
        </p:nvSpPr>
        <p:spPr>
          <a:xfrm>
            <a:off x="1116281" y="1336674"/>
            <a:ext cx="7151419" cy="4194176"/>
          </a:xfrm>
          <a:prstGeom prst="rect">
            <a:avLst/>
          </a:prstGeom>
          <a:noFill/>
          <a:ln>
            <a:noFill/>
          </a:ln>
        </p:spPr>
        <p:txBody>
          <a:bodyPr spcFirstLastPara="1" wrap="square" lIns="91425" tIns="45700" rIns="91425" bIns="45700" anchor="t" anchorCtr="0">
            <a:noAutofit/>
          </a:bodyPr>
          <a:lstStyle/>
          <a:p>
            <a:pPr marL="342900" lvl="0" indent="-228600">
              <a:buNone/>
            </a:pPr>
            <a:r>
              <a:rPr lang="en-US" sz="1800" dirty="0" smtClean="0">
                <a:latin typeface="Times New Roman" panose="02020603050405020304" pitchFamily="18" charset="0"/>
                <a:cs typeface="Times New Roman" panose="02020603050405020304" pitchFamily="18" charset="0"/>
              </a:rPr>
              <a:t>    Road </a:t>
            </a:r>
            <a:r>
              <a:rPr lang="en-US" sz="1800" dirty="0">
                <a:latin typeface="Times New Roman" panose="02020603050405020304" pitchFamily="18" charset="0"/>
                <a:cs typeface="Times New Roman" panose="02020603050405020304" pitchFamily="18" charset="0"/>
              </a:rPr>
              <a:t>accidents are a major cause of injuries and fatalities, often due to delayed detection and response. This project presents an automated accident detection and alert system using deep </a:t>
            </a:r>
            <a:r>
              <a:rPr lang="en-US" sz="1800" dirty="0" smtClean="0">
                <a:latin typeface="Times New Roman" panose="02020603050405020304" pitchFamily="18" charset="0"/>
                <a:cs typeface="Times New Roman" panose="02020603050405020304" pitchFamily="18" charset="0"/>
              </a:rPr>
              <a:t>learning and machine learning </a:t>
            </a:r>
            <a:r>
              <a:rPr lang="en-US" sz="1800" dirty="0">
                <a:latin typeface="Times New Roman" panose="02020603050405020304" pitchFamily="18" charset="0"/>
                <a:cs typeface="Times New Roman" panose="02020603050405020304" pitchFamily="18" charset="0"/>
              </a:rPr>
              <a:t>techniques. The system analyzes real-time video input from traffic surveillance cameras and classifies scenes into accident or non-accident using trained models. Once an accident is detected, the system retrieves the location, converts it into a readable address, and sends an instant alert via WhatsApp with coordinates and navigation link. This approach reduces response time and improves emergency assistance. The system demonstrates an effective integration of computer vision and communication technologies for enhancing road safety.</a:t>
            </a:r>
            <a:endParaRPr sz="1800" b="0" i="0" u="none" dirty="0">
              <a:solidFill>
                <a:srgbClr val="404040"/>
              </a:solidFill>
              <a:latin typeface="Times New Roman" panose="02020603050405020304" pitchFamily="18" charset="0"/>
              <a:ea typeface="Calibri"/>
              <a:cs typeface="Times New Roman" panose="02020603050405020304" pitchFamily="18" charset="0"/>
              <a:sym typeface="Calibri"/>
            </a:endParaRPr>
          </a:p>
        </p:txBody>
      </p:sp>
      <p:sp>
        <p:nvSpPr>
          <p:cNvPr id="712" name="Google Shape;712;p36"/>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3</a:t>
            </a:fld>
            <a:r>
              <a:rPr lang="en-US" sz="900" b="0" i="0" u="none" dirty="0">
                <a:solidFill>
                  <a:srgbClr val="898989"/>
                </a:solidFill>
                <a:latin typeface="Century Gothic"/>
                <a:ea typeface="Century Gothic"/>
                <a:cs typeface="Century Gothic"/>
                <a:sym typeface="Century Gothic"/>
              </a:rPr>
              <a:t> of 12</a:t>
            </a:r>
            <a:endParaRPr dirty="0"/>
          </a:p>
        </p:txBody>
      </p:sp>
      <p:sp>
        <p:nvSpPr>
          <p:cNvPr id="713" name="Google Shape;713;p36"/>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14" name="Google Shape;714;p36"/>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7"/>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200"/>
              <a:buFont typeface="Calibri"/>
              <a:buNone/>
            </a:pPr>
            <a:r>
              <a:rPr lang="en-US" b="1" i="0" u="none" dirty="0">
                <a:solidFill>
                  <a:srgbClr val="1581AA"/>
                </a:solidFill>
                <a:latin typeface="Calibri"/>
                <a:ea typeface="Calibri"/>
                <a:cs typeface="Calibri"/>
                <a:sym typeface="Calibri"/>
              </a:rPr>
              <a:t>Problem Statement</a:t>
            </a:r>
            <a:br>
              <a:rPr lang="en-US" b="1" i="0" u="none" dirty="0">
                <a:solidFill>
                  <a:srgbClr val="1581AA"/>
                </a:solidFill>
                <a:latin typeface="Calibri"/>
                <a:ea typeface="Calibri"/>
                <a:cs typeface="Calibri"/>
                <a:sym typeface="Calibri"/>
              </a:rPr>
            </a:br>
            <a:endParaRPr dirty="0"/>
          </a:p>
        </p:txBody>
      </p:sp>
      <p:sp>
        <p:nvSpPr>
          <p:cNvPr id="721" name="Google Shape;721;p37"/>
          <p:cNvSpPr txBox="1"/>
          <p:nvPr/>
        </p:nvSpPr>
        <p:spPr>
          <a:xfrm>
            <a:off x="8243887" y="6156325"/>
            <a:ext cx="5857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4</a:t>
            </a:fld>
            <a:r>
              <a:rPr lang="en-US" sz="900" b="0" i="0" u="none" dirty="0">
                <a:solidFill>
                  <a:srgbClr val="898989"/>
                </a:solidFill>
                <a:latin typeface="Century Gothic"/>
                <a:ea typeface="Century Gothic"/>
                <a:cs typeface="Century Gothic"/>
                <a:sym typeface="Century Gothic"/>
              </a:rPr>
              <a:t> of 12</a:t>
            </a:r>
            <a:endParaRPr dirty="0"/>
          </a:p>
        </p:txBody>
      </p:sp>
      <p:sp>
        <p:nvSpPr>
          <p:cNvPr id="722" name="Google Shape;722;p37"/>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23" name="Google Shape;723;p37"/>
          <p:cNvSpPr txBox="1"/>
          <p:nvPr/>
        </p:nvSpPr>
        <p:spPr>
          <a:xfrm>
            <a:off x="2819400" y="6156325"/>
            <a:ext cx="5257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4" name="Text Placeholder 3">
            <a:extLst>
              <a:ext uri="{FF2B5EF4-FFF2-40B4-BE49-F238E27FC236}">
                <a16:creationId xmlns="" xmlns:a16="http://schemas.microsoft.com/office/drawing/2014/main" id="{B8632D88-0675-63A9-A9AD-37D5683C5AE4}"/>
              </a:ext>
            </a:extLst>
          </p:cNvPr>
          <p:cNvSpPr>
            <a:spLocks noGrp="1"/>
          </p:cNvSpPr>
          <p:nvPr>
            <p:ph type="body" idx="1"/>
          </p:nvPr>
        </p:nvSpPr>
        <p:spPr>
          <a:xfrm>
            <a:off x="1356853" y="1460090"/>
            <a:ext cx="6909259" cy="4451132"/>
          </a:xfrm>
        </p:spPr>
        <p:txBody>
          <a:bodyPr/>
          <a:lstStyle/>
          <a:p>
            <a:pPr marL="114300" indent="0">
              <a:buNone/>
            </a:pPr>
            <a:r>
              <a:rPr lang="en-US" sz="1800" dirty="0">
                <a:latin typeface="Times New Roman" panose="02020603050405020304" pitchFamily="18" charset="0"/>
                <a:cs typeface="Times New Roman" panose="02020603050405020304" pitchFamily="18" charset="0"/>
              </a:rPr>
              <a:t>Road accidents are increasing rapidly</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delay in detecting accidents and informing emergency services often results in loss of lives. Traditional systems depend on manual reporting, which may take time and may not provide exact location details. Therefore, there is a need for an automated system that can detect accidents in real-time and immediately send alerts with location information to </a:t>
            </a:r>
            <a:r>
              <a:rPr lang="en-US" sz="1800" dirty="0" smtClean="0">
                <a:latin typeface="Times New Roman" panose="02020603050405020304" pitchFamily="18" charset="0"/>
                <a:cs typeface="Times New Roman" panose="02020603050405020304" pitchFamily="18" charset="0"/>
              </a:rPr>
              <a:t>nearest </a:t>
            </a:r>
            <a:r>
              <a:rPr lang="en-US" sz="1800" dirty="0">
                <a:latin typeface="Times New Roman" panose="02020603050405020304" pitchFamily="18" charset="0"/>
                <a:cs typeface="Times New Roman" panose="02020603050405020304" pitchFamily="18" charset="0"/>
              </a:rPr>
              <a:t>hospitals for faster medical assistance.</a:t>
            </a:r>
          </a:p>
          <a:p>
            <a:pPr marL="114300" indent="0">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b="1" dirty="0">
                <a:latin typeface="Calibri"/>
                <a:cs typeface="Calibri"/>
                <a:sym typeface="Calibri"/>
              </a:rPr>
              <a:t>Objectives</a:t>
            </a:r>
            <a:endParaRPr dirty="0"/>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5</a:t>
            </a:fld>
            <a:r>
              <a:rPr lang="en-US" sz="900" b="0" i="0" u="none" dirty="0">
                <a:solidFill>
                  <a:srgbClr val="898989"/>
                </a:solidFill>
                <a:latin typeface="Century Gothic"/>
                <a:ea typeface="Century Gothic"/>
                <a:cs typeface="Century Gothic"/>
                <a:sym typeface="Century Gothic"/>
              </a:rPr>
              <a:t> of 12</a:t>
            </a:r>
            <a:endParaRPr dirty="0"/>
          </a:p>
        </p:txBody>
      </p:sp>
      <p:sp>
        <p:nvSpPr>
          <p:cNvPr id="731" name="Google Shape;731;p38"/>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2" name="Text Placeholder 1">
            <a:extLst>
              <a:ext uri="{FF2B5EF4-FFF2-40B4-BE49-F238E27FC236}">
                <a16:creationId xmlns="" xmlns:a16="http://schemas.microsoft.com/office/drawing/2014/main" id="{AF092819-0D61-0AB8-4291-F435A381029A}"/>
              </a:ext>
            </a:extLst>
          </p:cNvPr>
          <p:cNvSpPr>
            <a:spLocks noGrp="1" noChangeArrowheads="1"/>
          </p:cNvSpPr>
          <p:nvPr>
            <p:ph type="body" idx="1"/>
          </p:nvPr>
        </p:nvSpPr>
        <p:spPr bwMode="auto">
          <a:xfrm>
            <a:off x="1330036" y="1475362"/>
            <a:ext cx="700671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deep learning-based system for automatic accident detection using surveillance camera input.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accurately classify accident and non-accident scenarios using trained machine learning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response time by detecting accidents in real time without human intervention.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the exact location of the accident using predefined camera coordinates.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send instant alerts with location details to emergency services through communication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road safety by enabling faster emergency response and assistance.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AAAF77-F233-29EE-92CB-39F14C4ACF5F}"/>
              </a:ext>
            </a:extLst>
          </p:cNvPr>
          <p:cNvSpPr>
            <a:spLocks noGrp="1"/>
          </p:cNvSpPr>
          <p:nvPr>
            <p:ph type="title"/>
          </p:nvPr>
        </p:nvSpPr>
        <p:spPr>
          <a:xfrm>
            <a:off x="1460665" y="624110"/>
            <a:ext cx="7073735" cy="990934"/>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Expected Outcomes</a:t>
            </a:r>
          </a:p>
        </p:txBody>
      </p:sp>
      <p:sp>
        <p:nvSpPr>
          <p:cNvPr id="3" name="Text Placeholder 2">
            <a:extLst>
              <a:ext uri="{FF2B5EF4-FFF2-40B4-BE49-F238E27FC236}">
                <a16:creationId xmlns="" xmlns:a16="http://schemas.microsoft.com/office/drawing/2014/main" id="{514BEEE9-8A3E-831C-E659-334DF1861B53}"/>
              </a:ext>
            </a:extLst>
          </p:cNvPr>
          <p:cNvSpPr>
            <a:spLocks noGrp="1"/>
          </p:cNvSpPr>
          <p:nvPr>
            <p:ph type="body" idx="1"/>
          </p:nvPr>
        </p:nvSpPr>
        <p:spPr>
          <a:xfrm>
            <a:off x="1297859" y="1740310"/>
            <a:ext cx="7236542" cy="4170912"/>
          </a:xfrm>
        </p:spPr>
        <p:txBody>
          <a:bodyPr/>
          <a:lstStyle/>
          <a:p>
            <a:pPr marL="114300" indent="0">
              <a:buNone/>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Accurate detection of road accidents using deep learning models. </a:t>
            </a:r>
          </a:p>
          <a:p>
            <a:pPr marL="114300" indent="0">
              <a:buNone/>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Real-time identification of accident scenarios from surveillance camera input. </a:t>
            </a:r>
          </a:p>
          <a:p>
            <a:pPr marL="114300" indent="0">
              <a:buNone/>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Automatic generation of alerts without human intervention. </a:t>
            </a:r>
          </a:p>
          <a:p>
            <a:pPr marL="114300" indent="0">
              <a:buNone/>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Precise location details (coordinates and address) of the accident site. </a:t>
            </a:r>
          </a:p>
          <a:p>
            <a:pPr marL="114300" indent="0">
              <a:buNone/>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Instant notification </a:t>
            </a:r>
            <a:r>
              <a:rPr lang="en-US" sz="1800" dirty="0" smtClean="0">
                <a:latin typeface="Times New Roman" panose="02020603050405020304" pitchFamily="18" charset="0"/>
                <a:cs typeface="Times New Roman" panose="02020603050405020304" pitchFamily="18" charset="0"/>
              </a:rPr>
              <a:t>to nearest hospital with </a:t>
            </a:r>
            <a:r>
              <a:rPr lang="en-US" sz="1800" dirty="0">
                <a:latin typeface="Times New Roman" panose="02020603050405020304" pitchFamily="18" charset="0"/>
                <a:cs typeface="Times New Roman" panose="02020603050405020304" pitchFamily="18" charset="0"/>
              </a:rPr>
              <a:t>navigation </a:t>
            </a:r>
            <a:r>
              <a:rPr lang="en-US" sz="1800" dirty="0" smtClean="0">
                <a:latin typeface="Times New Roman" panose="02020603050405020304" pitchFamily="18" charset="0"/>
                <a:cs typeface="Times New Roman" panose="02020603050405020304" pitchFamily="18" charset="0"/>
              </a:rPr>
              <a:t> link</a:t>
            </a:r>
            <a:r>
              <a:rPr lang="en-US" sz="1800" dirty="0">
                <a:latin typeface="Times New Roman" panose="02020603050405020304" pitchFamily="18" charset="0"/>
                <a:cs typeface="Times New Roman" panose="02020603050405020304" pitchFamily="18" charset="0"/>
              </a:rPr>
              <a:t>. </a:t>
            </a:r>
          </a:p>
          <a:p>
            <a:pPr marL="114300" indent="0">
              <a:buNone/>
            </a:pPr>
            <a:r>
              <a:rPr lang="en-US" sz="1800" dirty="0">
                <a:latin typeface="Times New Roman" panose="02020603050405020304" pitchFamily="18" charset="0"/>
                <a:cs typeface="Times New Roman" panose="02020603050405020304" pitchFamily="18" charset="0"/>
              </a:rPr>
              <a:t>•Reduced response time for medical and rescue assistance. </a:t>
            </a:r>
          </a:p>
          <a:p>
            <a:pPr marL="114300" indent="0">
              <a:buNone/>
            </a:pPr>
            <a:r>
              <a:rPr lang="en-US" sz="1800" dirty="0">
                <a:latin typeface="Times New Roman" panose="02020603050405020304" pitchFamily="18" charset="0"/>
                <a:cs typeface="Times New Roman" panose="02020603050405020304" pitchFamily="18" charset="0"/>
              </a:rPr>
              <a:t>• Improvement in road safety through faster emergency response</a:t>
            </a: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 xmlns:a16="http://schemas.microsoft.com/office/drawing/2014/main" id="{7D10C270-03A2-E7F5-40F0-A59F561252A0}"/>
              </a:ext>
            </a:extLst>
          </p:cNvPr>
          <p:cNvSpPr>
            <a:spLocks noGrp="1"/>
          </p:cNvSpPr>
          <p:nvPr>
            <p:ph type="sldNum" idx="12"/>
          </p:nvPr>
        </p:nvSpPr>
        <p:spPr/>
        <p:txBody>
          <a:bodyPr/>
          <a:lstStyle/>
          <a:p>
            <a:pPr marL="0" lvl="0" indent="0" algn="ctr" rtl="0">
              <a:spcBef>
                <a:spcPts val="0"/>
              </a:spcBef>
              <a:spcAft>
                <a:spcPts val="0"/>
              </a:spcAft>
              <a:buNone/>
            </a:pPr>
            <a:r>
              <a:rPr lang="en-US" dirty="0"/>
              <a:t>(#)  of 12</a:t>
            </a:r>
          </a:p>
        </p:txBody>
      </p:sp>
    </p:spTree>
    <p:extLst>
      <p:ext uri="{BB962C8B-B14F-4D97-AF65-F5344CB8AC3E}">
        <p14:creationId xmlns:p14="http://schemas.microsoft.com/office/powerpoint/2010/main" val="4089386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7">
          <a:extLst>
            <a:ext uri="{FF2B5EF4-FFF2-40B4-BE49-F238E27FC236}">
              <a16:creationId xmlns="" xmlns:a16="http://schemas.microsoft.com/office/drawing/2014/main" id="{83446DBD-A594-42F8-0AA5-48A1A2321AD6}"/>
            </a:ext>
          </a:extLst>
        </p:cNvPr>
        <p:cNvGrpSpPr/>
        <p:nvPr/>
      </p:nvGrpSpPr>
      <p:grpSpPr>
        <a:xfrm>
          <a:off x="0" y="0"/>
          <a:ext cx="0" cy="0"/>
          <a:chOff x="0" y="0"/>
          <a:chExt cx="0" cy="0"/>
        </a:xfrm>
      </p:grpSpPr>
      <p:sp>
        <p:nvSpPr>
          <p:cNvPr id="728" name="Google Shape;728;p38">
            <a:extLst>
              <a:ext uri="{FF2B5EF4-FFF2-40B4-BE49-F238E27FC236}">
                <a16:creationId xmlns="" xmlns:a16="http://schemas.microsoft.com/office/drawing/2014/main" id="{50777A2E-0DEC-38F7-A574-676E938F8CE5}"/>
              </a:ext>
            </a:extLst>
          </p:cNvPr>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Introduction</a:t>
            </a:r>
            <a:endParaRPr dirty="0"/>
          </a:p>
        </p:txBody>
      </p:sp>
      <p:sp>
        <p:nvSpPr>
          <p:cNvPr id="729" name="Google Shape;729;p38">
            <a:extLst>
              <a:ext uri="{FF2B5EF4-FFF2-40B4-BE49-F238E27FC236}">
                <a16:creationId xmlns="" xmlns:a16="http://schemas.microsoft.com/office/drawing/2014/main" id="{5C78D9AE-DF0F-24BC-9DDC-C4815F26F955}"/>
              </a:ext>
            </a:extLst>
          </p:cNvPr>
          <p:cNvSpPr txBox="1">
            <a:spLocks noGrp="1"/>
          </p:cNvSpPr>
          <p:nvPr>
            <p:ph type="body" idx="1"/>
          </p:nvPr>
        </p:nvSpPr>
        <p:spPr>
          <a:xfrm>
            <a:off x="1225137" y="1199408"/>
            <a:ext cx="6591300" cy="4141437"/>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Times New Roman" panose="02020603050405020304" pitchFamily="18" charset="0"/>
                <a:cs typeface="Times New Roman" panose="02020603050405020304" pitchFamily="18" charset="0"/>
              </a:rPr>
              <a:t>This project aims to develop an automated accident detection system using deep learning techniques that analyze real-time video input from traffic surveillance cameras to identify accident scenarios accurately. The scope of the project includes real-time monitoring, detection of accidents, and generation of instant alerts with location details to emergency services. It is assumed that the system operates with proper camera input, trained models, and internet connectivity to ensure accurate detection and timely communication.</a:t>
            </a:r>
          </a:p>
          <a:p>
            <a:pPr marL="114300" indent="0">
              <a:buNone/>
            </a:pPr>
            <a:r>
              <a:rPr lang="en-IN"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Times New Roman" panose="02020603050405020304" pitchFamily="18" charset="0"/>
              <a:ea typeface="Calibri"/>
              <a:cs typeface="Times New Roman" panose="02020603050405020304" pitchFamily="18" charset="0"/>
              <a:sym typeface="Calibri"/>
            </a:endParaRPr>
          </a:p>
        </p:txBody>
      </p:sp>
      <p:sp>
        <p:nvSpPr>
          <p:cNvPr id="730" name="Google Shape;730;p38">
            <a:extLst>
              <a:ext uri="{FF2B5EF4-FFF2-40B4-BE49-F238E27FC236}">
                <a16:creationId xmlns="" xmlns:a16="http://schemas.microsoft.com/office/drawing/2014/main" id="{DFB30754-02A8-A733-6CDA-EAD0153479D8}"/>
              </a:ext>
            </a:extLst>
          </p:cNvPr>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7</a:t>
            </a:fld>
            <a:r>
              <a:rPr lang="en-US" sz="900" b="0" i="0" u="none" dirty="0">
                <a:solidFill>
                  <a:srgbClr val="898989"/>
                </a:solidFill>
                <a:latin typeface="Century Gothic"/>
                <a:ea typeface="Century Gothic"/>
                <a:cs typeface="Century Gothic"/>
                <a:sym typeface="Century Gothic"/>
              </a:rPr>
              <a:t> of 12</a:t>
            </a:r>
            <a:endParaRPr dirty="0"/>
          </a:p>
        </p:txBody>
      </p:sp>
      <p:sp>
        <p:nvSpPr>
          <p:cNvPr id="731" name="Google Shape;731;p38">
            <a:extLst>
              <a:ext uri="{FF2B5EF4-FFF2-40B4-BE49-F238E27FC236}">
                <a16:creationId xmlns="" xmlns:a16="http://schemas.microsoft.com/office/drawing/2014/main" id="{712912ED-B601-C68A-9665-CAA4C58FCA8C}"/>
              </a:ext>
            </a:extLst>
          </p:cNvPr>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32" name="Google Shape;732;p38">
            <a:extLst>
              <a:ext uri="{FF2B5EF4-FFF2-40B4-BE49-F238E27FC236}">
                <a16:creationId xmlns="" xmlns:a16="http://schemas.microsoft.com/office/drawing/2014/main" id="{78C051DE-4053-E120-B81B-4CEE7A9712FC}"/>
              </a:ext>
            </a:extLst>
          </p:cNvPr>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Tree>
    <p:extLst>
      <p:ext uri="{BB962C8B-B14F-4D97-AF65-F5344CB8AC3E}">
        <p14:creationId xmlns:p14="http://schemas.microsoft.com/office/powerpoint/2010/main" val="3536479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0"/>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State of the Art-work</a:t>
            </a:r>
            <a:br>
              <a:rPr lang="en-US" sz="3600" b="1" i="0" u="none" dirty="0">
                <a:solidFill>
                  <a:srgbClr val="1581AA"/>
                </a:solidFill>
                <a:latin typeface="Calibri"/>
                <a:ea typeface="Calibri"/>
                <a:cs typeface="Calibri"/>
                <a:sym typeface="Calibri"/>
              </a:rPr>
            </a:br>
            <a:endParaRPr dirty="0"/>
          </a:p>
        </p:txBody>
      </p:sp>
      <p:sp>
        <p:nvSpPr>
          <p:cNvPr id="747" name="Google Shape;747;p40"/>
          <p:cNvSpPr txBox="1">
            <a:spLocks noGrp="1"/>
          </p:cNvSpPr>
          <p:nvPr>
            <p:ph type="body" idx="1"/>
          </p:nvPr>
        </p:nvSpPr>
        <p:spPr>
          <a:xfrm>
            <a:off x="1676400" y="1752600"/>
            <a:ext cx="7315200" cy="990600"/>
          </a:xfrm>
          <a:prstGeom prst="rect">
            <a:avLst/>
          </a:prstGeom>
          <a:noFill/>
          <a:ln>
            <a:noFill/>
          </a:ln>
        </p:spPr>
        <p:txBody>
          <a:bodyPr spcFirstLastPara="1" wrap="square" lIns="91425" tIns="45700" rIns="91425" bIns="45700" anchor="t" anchorCtr="0">
            <a:noAutofit/>
          </a:bodyPr>
          <a:lstStyle/>
          <a:p>
            <a:pPr marL="342900" marR="0" lvl="0" indent="-254000" algn="l" rtl="0">
              <a:lnSpc>
                <a:spcPct val="100000"/>
              </a:lnSpc>
              <a:spcBef>
                <a:spcPts val="1000"/>
              </a:spcBef>
              <a:spcAft>
                <a:spcPts val="0"/>
              </a:spcAft>
              <a:buClr>
                <a:schemeClr val="accent1"/>
              </a:buClr>
              <a:buSzPts val="1400"/>
              <a:buFont typeface="Noto Sans Symbols"/>
              <a:buNone/>
            </a:pPr>
            <a:endParaRPr sz="1400" b="0" i="0" u="none" dirty="0">
              <a:solidFill>
                <a:srgbClr val="404040"/>
              </a:solidFill>
              <a:latin typeface="Calibri"/>
              <a:ea typeface="Calibri"/>
              <a:cs typeface="Calibri"/>
              <a:sym typeface="Calibri"/>
            </a:endParaRPr>
          </a:p>
          <a:p>
            <a:pPr marL="342900" marR="0" lvl="0" indent="-254000" algn="l" rtl="0">
              <a:spcBef>
                <a:spcPts val="1000"/>
              </a:spcBef>
              <a:spcAft>
                <a:spcPts val="0"/>
              </a:spcAft>
              <a:buClr>
                <a:schemeClr val="accent1"/>
              </a:buClr>
              <a:buSzPts val="1400"/>
              <a:buFont typeface="Noto Sans Symbols"/>
              <a:buNone/>
            </a:pPr>
            <a:endParaRPr sz="1400" b="0" i="0" u="none" dirty="0">
              <a:solidFill>
                <a:srgbClr val="404040"/>
              </a:solidFill>
              <a:latin typeface="Calibri"/>
              <a:ea typeface="Calibri"/>
              <a:cs typeface="Calibri"/>
              <a:sym typeface="Calibri"/>
            </a:endParaRPr>
          </a:p>
        </p:txBody>
      </p:sp>
      <p:sp>
        <p:nvSpPr>
          <p:cNvPr id="748" name="Google Shape;748;p40"/>
          <p:cNvSpPr txBox="1"/>
          <p:nvPr/>
        </p:nvSpPr>
        <p:spPr>
          <a:xfrm>
            <a:off x="1657350" y="6091237"/>
            <a:ext cx="1066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49" name="Google Shape;749;p40"/>
          <p:cNvSpPr txBox="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graphicFrame>
        <p:nvGraphicFramePr>
          <p:cNvPr id="750" name="Google Shape;750;p40"/>
          <p:cNvGraphicFramePr/>
          <p:nvPr>
            <p:extLst>
              <p:ext uri="{D42A27DB-BD31-4B8C-83A1-F6EECF244321}">
                <p14:modId xmlns:p14="http://schemas.microsoft.com/office/powerpoint/2010/main" val="134163346"/>
              </p:ext>
            </p:extLst>
          </p:nvPr>
        </p:nvGraphicFramePr>
        <p:xfrm>
          <a:off x="647724" y="1401287"/>
          <a:ext cx="8077175" cy="5035031"/>
        </p:xfrm>
        <a:graphic>
          <a:graphicData uri="http://schemas.openxmlformats.org/drawingml/2006/table">
            <a:tbl>
              <a:tblPr>
                <a:noFill/>
                <a:tableStyleId>{6163BEFD-34F1-4015-AAA6-348518B0E7BF}</a:tableStyleId>
              </a:tblPr>
              <a:tblGrid>
                <a:gridCol w="1616075">
                  <a:extLst>
                    <a:ext uri="{9D8B030D-6E8A-4147-A177-3AD203B41FA5}">
                      <a16:colId xmlns="" xmlns:a16="http://schemas.microsoft.com/office/drawing/2014/main" val="20000"/>
                    </a:ext>
                  </a:extLst>
                </a:gridCol>
                <a:gridCol w="1614475">
                  <a:extLst>
                    <a:ext uri="{9D8B030D-6E8A-4147-A177-3AD203B41FA5}">
                      <a16:colId xmlns="" xmlns:a16="http://schemas.microsoft.com/office/drawing/2014/main" val="20001"/>
                    </a:ext>
                  </a:extLst>
                </a:gridCol>
                <a:gridCol w="1616075">
                  <a:extLst>
                    <a:ext uri="{9D8B030D-6E8A-4147-A177-3AD203B41FA5}">
                      <a16:colId xmlns="" xmlns:a16="http://schemas.microsoft.com/office/drawing/2014/main" val="20002"/>
                    </a:ext>
                  </a:extLst>
                </a:gridCol>
                <a:gridCol w="1614475">
                  <a:extLst>
                    <a:ext uri="{9D8B030D-6E8A-4147-A177-3AD203B41FA5}">
                      <a16:colId xmlns="" xmlns:a16="http://schemas.microsoft.com/office/drawing/2014/main" val="20003"/>
                    </a:ext>
                  </a:extLst>
                </a:gridCol>
                <a:gridCol w="1616075">
                  <a:extLst>
                    <a:ext uri="{9D8B030D-6E8A-4147-A177-3AD203B41FA5}">
                      <a16:colId xmlns="" xmlns:a16="http://schemas.microsoft.com/office/drawing/2014/main" val="20004"/>
                    </a:ext>
                  </a:extLst>
                </a:gridCol>
              </a:tblGrid>
              <a:tr h="927925">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Author’s Name/ Paper Title </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Conference/Journal Name and year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Technology/ Design</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Results shared by author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What you infer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extLst>
                  <a:ext uri="{0D108BD9-81ED-4DB2-BD59-A6C34878D82A}">
                    <a16:rowId xmlns="" xmlns:a16="http://schemas.microsoft.com/office/drawing/2014/main" val="10000"/>
                  </a:ext>
                </a:extLst>
              </a:tr>
              <a:tr h="3666222">
                <a:tc>
                  <a:txBody>
                    <a:bodyPr/>
                    <a:lstStyle/>
                    <a:p>
                      <a:pPr marL="0" marR="0" lvl="0" indent="0" algn="l" rtl="0">
                        <a:lnSpc>
                          <a:spcPct val="100000"/>
                        </a:lnSpc>
                        <a:spcBef>
                          <a:spcPts val="0"/>
                        </a:spcBef>
                        <a:spcAft>
                          <a:spcPts val="0"/>
                        </a:spcAft>
                        <a:buClr>
                          <a:srgbClr val="000000"/>
                        </a:buClr>
                        <a:buSzPts val="1800"/>
                        <a:buFont typeface="Century Gothic"/>
                        <a:buNone/>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G.Siri,G.Priyanka,B.Divya,G.Sameera</a:t>
                      </a:r>
                      <a:r>
                        <a:rPr lang="en-US" sz="1100" b="0" i="0" u="none" strike="noStrike" cap="none" baseline="0" dirty="0" smtClean="0">
                          <a:solidFill>
                            <a:srgbClr val="000000"/>
                          </a:solidFill>
                          <a:effectLst/>
                          <a:latin typeface="Times New Roman" panose="02020603050405020304" pitchFamily="18" charset="0"/>
                          <a:ea typeface="Arial"/>
                          <a:cs typeface="Times New Roman" panose="02020603050405020304" pitchFamily="18" charset="0"/>
                          <a:sym typeface="Arial"/>
                        </a:rPr>
                        <a:t> and </a:t>
                      </a: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M.Pallavi “Accident Detection and  Alert System” </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Sinchana R.D, Sindhu K.S, Sudhakara H.M “Accident Detection and Alert System for Enhanced Safety and Response”</a:t>
                      </a: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Priyadarshini C. Patil, Padmanabhan Ghanate, Rishikesh Patil “Road Accident Detection and Alert Notification System using Machine Learning”</a:t>
                      </a: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sz="1100"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pPr marL="0" marR="0" lvl="0" indent="0" algn="l" rtl="0">
                        <a:lnSpc>
                          <a:spcPct val="100000"/>
                        </a:lnSpc>
                        <a:spcBef>
                          <a:spcPts val="0"/>
                        </a:spcBef>
                        <a:spcAft>
                          <a:spcPts val="0"/>
                        </a:spcAft>
                        <a:buClr>
                          <a:srgbClr val="000000"/>
                        </a:buClr>
                        <a:buSzPts val="1800"/>
                        <a:buFont typeface="Century Gothic"/>
                        <a:buNone/>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IRJETS vol.04,Issue06,2022.</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Vol.13, Issue11, 2024</a:t>
                      </a: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IJSDR, Vol.10, Issue12, 2025</a:t>
                      </a: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sz="1100"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pPr marL="0" marR="0" lvl="0" indent="0" algn="l" rtl="0">
                        <a:lnSpc>
                          <a:spcPct val="100000"/>
                        </a:lnSpc>
                        <a:spcBef>
                          <a:spcPts val="0"/>
                        </a:spcBef>
                        <a:spcAft>
                          <a:spcPts val="0"/>
                        </a:spcAft>
                        <a:buClr>
                          <a:srgbClr val="000000"/>
                        </a:buClr>
                        <a:buSzPts val="1800"/>
                        <a:buFont typeface="Century Gothic"/>
                        <a:buNone/>
                      </a:pPr>
                      <a:r>
                        <a:rPr lang="en-US" sz="1100" dirty="0" smtClean="0">
                          <a:latin typeface="Times New Roman" panose="02020603050405020304" pitchFamily="18" charset="0"/>
                          <a:cs typeface="Times New Roman" panose="02020603050405020304" pitchFamily="18" charset="0"/>
                        </a:rPr>
                        <a:t>IoT</a:t>
                      </a:r>
                      <a:r>
                        <a:rPr lang="en-US" sz="1100" baseline="0" dirty="0" smtClean="0">
                          <a:latin typeface="Times New Roman" panose="02020603050405020304" pitchFamily="18" charset="0"/>
                          <a:cs typeface="Times New Roman" panose="02020603050405020304" pitchFamily="18" charset="0"/>
                        </a:rPr>
                        <a:t> sensors, GPS, GSM, Microcontroller based alert system</a:t>
                      </a: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Embedded system with sensors, communication module</a:t>
                      </a: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Machine Learning classification model with alert system</a:t>
                      </a: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pPr marL="0" marR="0" lvl="0" indent="0" algn="l" rtl="0">
                        <a:lnSpc>
                          <a:spcPct val="100000"/>
                        </a:lnSpc>
                        <a:spcBef>
                          <a:spcPts val="0"/>
                        </a:spcBef>
                        <a:spcAft>
                          <a:spcPts val="0"/>
                        </a:spcAft>
                        <a:buClr>
                          <a:srgbClr val="000000"/>
                        </a:buClr>
                        <a:buSzPts val="1800"/>
                        <a:buFont typeface="Century Gothic"/>
                        <a:buNone/>
                      </a:pPr>
                      <a:r>
                        <a:rPr lang="en-US" sz="1100" b="0" i="0" u="none" strike="noStrike" cap="none" baseline="0" dirty="0" smtClean="0">
                          <a:solidFill>
                            <a:srgbClr val="000000"/>
                          </a:solidFill>
                          <a:latin typeface="Times New Roman" panose="02020603050405020304" pitchFamily="18" charset="0"/>
                          <a:ea typeface="Arial"/>
                          <a:cs typeface="Times New Roman" panose="02020603050405020304" pitchFamily="18" charset="0"/>
                          <a:sym typeface="Arial"/>
                        </a:rPr>
                        <a:t>Detects vehicle accident and sends emergency alerts with location</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Improved road safety with faster alert transmission</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Detects accident images/videos and sends notifications</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Useful for reducing delay in emergency response using sensor networks</a:t>
                      </a:r>
                    </a:p>
                    <a:p>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Real-time automated response increases survival chances</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ML improves detection accuracy over sensor-only systems</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endPar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extLst>
                  <a:ext uri="{0D108BD9-81ED-4DB2-BD59-A6C34878D82A}">
                    <a16:rowId xmlns="" xmlns:a16="http://schemas.microsoft.com/office/drawing/2014/main" val="10001"/>
                  </a:ext>
                </a:extLst>
              </a:tr>
              <a:tr h="327576">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extLst>
                  <a:ext uri="{0D108BD9-81ED-4DB2-BD59-A6C34878D82A}">
                    <a16:rowId xmlns="" xmlns:a16="http://schemas.microsoft.com/office/drawing/2014/main" val="10002"/>
                  </a:ext>
                </a:extLst>
              </a:tr>
            </a:tbl>
          </a:graphicData>
        </a:graphic>
      </p:graphicFrame>
      <p:sp>
        <p:nvSpPr>
          <p:cNvPr id="751" name="Google Shape;751;p40"/>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8</a:t>
            </a:fld>
            <a:r>
              <a:rPr lang="en-US" sz="900" b="0" i="0" u="none" dirty="0">
                <a:solidFill>
                  <a:srgbClr val="898989"/>
                </a:solidFill>
                <a:latin typeface="Century Gothic"/>
                <a:ea typeface="Century Gothic"/>
                <a:cs typeface="Century Gothic"/>
                <a:sym typeface="Century Gothic"/>
              </a:rPr>
              <a:t> of 12</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0"/>
          <p:cNvSpPr txBox="1">
            <a:spLocks noGrp="1"/>
          </p:cNvSpPr>
          <p:nvPr>
            <p:ph type="title"/>
          </p:nvPr>
        </p:nvSpPr>
        <p:spPr>
          <a:xfrm>
            <a:off x="926275" y="573087"/>
            <a:ext cx="7339837"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dirty="0" smtClean="0">
                <a:solidFill>
                  <a:schemeClr val="tx1"/>
                </a:solidFill>
              </a:rPr>
              <a:t>.</a:t>
            </a:r>
            <a:endParaRPr dirty="0">
              <a:solidFill>
                <a:schemeClr val="tx1"/>
              </a:solidFill>
            </a:endParaRPr>
          </a:p>
        </p:txBody>
      </p:sp>
      <p:sp>
        <p:nvSpPr>
          <p:cNvPr id="747" name="Google Shape;747;p40"/>
          <p:cNvSpPr txBox="1">
            <a:spLocks noGrp="1"/>
          </p:cNvSpPr>
          <p:nvPr>
            <p:ph type="body" idx="1"/>
          </p:nvPr>
        </p:nvSpPr>
        <p:spPr>
          <a:xfrm>
            <a:off x="1676400" y="1752600"/>
            <a:ext cx="7315200" cy="990600"/>
          </a:xfrm>
          <a:prstGeom prst="rect">
            <a:avLst/>
          </a:prstGeom>
          <a:noFill/>
          <a:ln>
            <a:noFill/>
          </a:ln>
        </p:spPr>
        <p:txBody>
          <a:bodyPr spcFirstLastPara="1" wrap="square" lIns="91425" tIns="45700" rIns="91425" bIns="45700" anchor="t" anchorCtr="0">
            <a:noAutofit/>
          </a:bodyPr>
          <a:lstStyle/>
          <a:p>
            <a:pPr marL="342900" marR="0" lvl="0" indent="-254000" algn="l" rtl="0">
              <a:lnSpc>
                <a:spcPct val="100000"/>
              </a:lnSpc>
              <a:spcBef>
                <a:spcPts val="1000"/>
              </a:spcBef>
              <a:spcAft>
                <a:spcPts val="0"/>
              </a:spcAft>
              <a:buClr>
                <a:schemeClr val="accent1"/>
              </a:buClr>
              <a:buSzPts val="1400"/>
              <a:buFont typeface="Noto Sans Symbols"/>
              <a:buNone/>
            </a:pPr>
            <a:endParaRPr sz="1400" b="0" i="0" u="none" dirty="0">
              <a:solidFill>
                <a:srgbClr val="404040"/>
              </a:solidFill>
              <a:latin typeface="Calibri"/>
              <a:ea typeface="Calibri"/>
              <a:cs typeface="Calibri"/>
              <a:sym typeface="Calibri"/>
            </a:endParaRPr>
          </a:p>
          <a:p>
            <a:pPr marL="342900" marR="0" lvl="0" indent="-254000" algn="l" rtl="0">
              <a:spcBef>
                <a:spcPts val="1000"/>
              </a:spcBef>
              <a:spcAft>
                <a:spcPts val="0"/>
              </a:spcAft>
              <a:buClr>
                <a:schemeClr val="accent1"/>
              </a:buClr>
              <a:buSzPts val="1400"/>
              <a:buFont typeface="Noto Sans Symbols"/>
              <a:buNone/>
            </a:pPr>
            <a:endParaRPr sz="1400" b="0" i="0" u="none" dirty="0">
              <a:solidFill>
                <a:srgbClr val="404040"/>
              </a:solidFill>
              <a:latin typeface="Calibri"/>
              <a:ea typeface="Calibri"/>
              <a:cs typeface="Calibri"/>
              <a:sym typeface="Calibri"/>
            </a:endParaRPr>
          </a:p>
        </p:txBody>
      </p:sp>
      <p:sp>
        <p:nvSpPr>
          <p:cNvPr id="748" name="Google Shape;748;p40"/>
          <p:cNvSpPr txBox="1"/>
          <p:nvPr/>
        </p:nvSpPr>
        <p:spPr>
          <a:xfrm>
            <a:off x="1657350" y="6091237"/>
            <a:ext cx="1066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49" name="Google Shape;749;p40"/>
          <p:cNvSpPr txBox="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graphicFrame>
        <p:nvGraphicFramePr>
          <p:cNvPr id="750" name="Google Shape;750;p40"/>
          <p:cNvGraphicFramePr/>
          <p:nvPr>
            <p:extLst>
              <p:ext uri="{D42A27DB-BD31-4B8C-83A1-F6EECF244321}">
                <p14:modId xmlns:p14="http://schemas.microsoft.com/office/powerpoint/2010/main" val="64501285"/>
              </p:ext>
            </p:extLst>
          </p:nvPr>
        </p:nvGraphicFramePr>
        <p:xfrm>
          <a:off x="647724" y="1401290"/>
          <a:ext cx="8077175" cy="4512623"/>
        </p:xfrm>
        <a:graphic>
          <a:graphicData uri="http://schemas.openxmlformats.org/drawingml/2006/table">
            <a:tbl>
              <a:tblPr>
                <a:noFill/>
                <a:tableStyleId>{6163BEFD-34F1-4015-AAA6-348518B0E7BF}</a:tableStyleId>
              </a:tblPr>
              <a:tblGrid>
                <a:gridCol w="1616075">
                  <a:extLst>
                    <a:ext uri="{9D8B030D-6E8A-4147-A177-3AD203B41FA5}">
                      <a16:colId xmlns="" xmlns:a16="http://schemas.microsoft.com/office/drawing/2014/main" val="20000"/>
                    </a:ext>
                  </a:extLst>
                </a:gridCol>
                <a:gridCol w="1614475">
                  <a:extLst>
                    <a:ext uri="{9D8B030D-6E8A-4147-A177-3AD203B41FA5}">
                      <a16:colId xmlns="" xmlns:a16="http://schemas.microsoft.com/office/drawing/2014/main" val="20001"/>
                    </a:ext>
                  </a:extLst>
                </a:gridCol>
                <a:gridCol w="1616075">
                  <a:extLst>
                    <a:ext uri="{9D8B030D-6E8A-4147-A177-3AD203B41FA5}">
                      <a16:colId xmlns="" xmlns:a16="http://schemas.microsoft.com/office/drawing/2014/main" val="20002"/>
                    </a:ext>
                  </a:extLst>
                </a:gridCol>
                <a:gridCol w="1614475">
                  <a:extLst>
                    <a:ext uri="{9D8B030D-6E8A-4147-A177-3AD203B41FA5}">
                      <a16:colId xmlns="" xmlns:a16="http://schemas.microsoft.com/office/drawing/2014/main" val="20003"/>
                    </a:ext>
                  </a:extLst>
                </a:gridCol>
                <a:gridCol w="1616075">
                  <a:extLst>
                    <a:ext uri="{9D8B030D-6E8A-4147-A177-3AD203B41FA5}">
                      <a16:colId xmlns="" xmlns:a16="http://schemas.microsoft.com/office/drawing/2014/main" val="20004"/>
                    </a:ext>
                  </a:extLst>
                </a:gridCol>
              </a:tblGrid>
              <a:tr h="850795">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Author’s Name/ Paper Title </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Conference/Journal Name and year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Technology/ Design</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Results shared by author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tc>
                  <a:txBody>
                    <a:bodyPr/>
                    <a:lstStyle/>
                    <a:p>
                      <a:pPr marL="0" marR="0" lvl="0" indent="0" algn="l" rtl="0">
                        <a:lnSpc>
                          <a:spcPct val="100000"/>
                        </a:lnSpc>
                        <a:spcBef>
                          <a:spcPts val="0"/>
                        </a:spcBef>
                        <a:spcAft>
                          <a:spcPts val="0"/>
                        </a:spcAft>
                        <a:buClr>
                          <a:srgbClr val="FFFFFF"/>
                        </a:buClr>
                        <a:buSzPts val="1800"/>
                        <a:buFont typeface="Century Gothic"/>
                        <a:buNone/>
                      </a:pPr>
                      <a:r>
                        <a:rPr lang="en-US" sz="1200" b="1" i="0" u="none" strike="noStrike" cap="none" dirty="0">
                          <a:solidFill>
                            <a:srgbClr val="FFFFFF"/>
                          </a:solidFill>
                          <a:latin typeface="Century Gothic"/>
                          <a:ea typeface="Century Gothic"/>
                          <a:cs typeface="Century Gothic"/>
                          <a:sym typeface="Century Gothic"/>
                        </a:rPr>
                        <a:t>What you infer</a:t>
                      </a:r>
                      <a:endParaRPr sz="1200"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265991"/>
                    </a:solidFill>
                  </a:tcPr>
                </a:tc>
                <a:extLst>
                  <a:ext uri="{0D108BD9-81ED-4DB2-BD59-A6C34878D82A}">
                    <a16:rowId xmlns="" xmlns:a16="http://schemas.microsoft.com/office/drawing/2014/main" val="10000"/>
                  </a:ext>
                </a:extLst>
              </a:tr>
              <a:tr h="3361480">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Devisha Arunadevi Tiwari, Emmadi Bhanu Sai, Bandapu Sai Chandu “Machine Learning based Accident Detection and Alert System”</a:t>
                      </a:r>
                    </a:p>
                    <a:p>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Gopal Sunil Rathod, Rani Chandrabhan Tipale, Dr. Kapil Jajulwar “Intelligent Accident Detection and Alerting System based on Machine Learning over the IoT Network”</a:t>
                      </a: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JEITR, May 2024</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IEEE INCOFT, 2022</a:t>
                      </a: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entury Gothic"/>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sz="1100"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Machine Learning algorithm with automated messaging</a:t>
                      </a: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Machine Learning + IoT Network</a:t>
                      </a: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Century Gothic"/>
                        <a:buNone/>
                      </a:pPr>
                      <a:endParaRPr lang="en-US" sz="1100" baseline="0" dirty="0" smtClean="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Accurate accident prediction with quick alert mechanism</a:t>
                      </a: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Smart accident monitoring and real-time alerts</a:t>
                      </a: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effectLst/>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Century Gothic"/>
                        <a:buNone/>
                      </a:pPr>
                      <a:endParaRPr lang="en-US" sz="1100" b="0" i="0" u="none" strike="noStrike" cap="none" baseline="0" dirty="0" smtClean="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tc>
                  <a:txBody>
                    <a:bodyPr/>
                    <a:lstStyle/>
                    <a:p>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AI-based detection is effective for smart traffic monitoring</a:t>
                      </a:r>
                    </a:p>
                    <a:p>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rPr>
                        <a:t>Combining IoT with ML increases efficiency and scalability</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dirty="0" smtClean="0">
                        <a:solidFill>
                          <a:srgbClr val="000000"/>
                        </a:solidFill>
                        <a:effectLst/>
                        <a:latin typeface="Times New Roman" panose="02020603050405020304" pitchFamily="18" charset="0"/>
                        <a:ea typeface="Arial"/>
                        <a:cs typeface="Times New Roman" panose="02020603050405020304" pitchFamily="18" charset="0"/>
                        <a:sym typeface="Arial"/>
                      </a:endParaRPr>
                    </a:p>
                    <a:p>
                      <a:endPar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D1DC"/>
                    </a:solidFill>
                  </a:tcPr>
                </a:tc>
                <a:extLst>
                  <a:ext uri="{0D108BD9-81ED-4DB2-BD59-A6C34878D82A}">
                    <a16:rowId xmlns="" xmlns:a16="http://schemas.microsoft.com/office/drawing/2014/main" val="10001"/>
                  </a:ext>
                </a:extLst>
              </a:tr>
              <a:tr h="300348">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tc>
                  <a:txBody>
                    <a:bodyPr/>
                    <a:lstStyle/>
                    <a:p>
                      <a:pPr marL="0" marR="0" lvl="0" indent="0" algn="l" rtl="0">
                        <a:spcBef>
                          <a:spcPts val="0"/>
                        </a:spcBef>
                        <a:spcAft>
                          <a:spcPts val="0"/>
                        </a:spcAft>
                        <a:buNone/>
                      </a:pPr>
                      <a:endParaRPr sz="1200" dirty="0">
                        <a:solidFill>
                          <a:schemeClr val="dk1"/>
                        </a:solidFill>
                        <a:latin typeface="Century Gothic"/>
                        <a:ea typeface="Century Gothic"/>
                        <a:cs typeface="Century Gothic"/>
                        <a:sym typeface="Century Gothic"/>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AEE"/>
                    </a:solidFill>
                  </a:tcPr>
                </a:tc>
                <a:extLst>
                  <a:ext uri="{0D108BD9-81ED-4DB2-BD59-A6C34878D82A}">
                    <a16:rowId xmlns="" xmlns:a16="http://schemas.microsoft.com/office/drawing/2014/main" val="10002"/>
                  </a:ext>
                </a:extLst>
              </a:tr>
            </a:tbl>
          </a:graphicData>
        </a:graphic>
      </p:graphicFrame>
      <p:sp>
        <p:nvSpPr>
          <p:cNvPr id="751" name="Google Shape;751;p40"/>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9</a:t>
            </a:fld>
            <a:r>
              <a:rPr lang="en-US" sz="900" b="0" i="0" u="none" dirty="0">
                <a:solidFill>
                  <a:srgbClr val="898989"/>
                </a:solidFill>
                <a:latin typeface="Century Gothic"/>
                <a:ea typeface="Century Gothic"/>
                <a:cs typeface="Century Gothic"/>
                <a:sym typeface="Century Gothic"/>
              </a:rPr>
              <a:t> of 12</a:t>
            </a:r>
            <a:endParaRPr dirty="0"/>
          </a:p>
        </p:txBody>
      </p:sp>
    </p:spTree>
    <p:extLst>
      <p:ext uri="{BB962C8B-B14F-4D97-AF65-F5344CB8AC3E}">
        <p14:creationId xmlns:p14="http://schemas.microsoft.com/office/powerpoint/2010/main" val="2751189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9"/>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Social/Environmental Impact</a:t>
            </a:r>
            <a:br>
              <a:rPr lang="en-US" sz="3600" b="1" i="0" u="none" dirty="0">
                <a:solidFill>
                  <a:srgbClr val="1581AA"/>
                </a:solidFill>
                <a:latin typeface="Calibri"/>
                <a:ea typeface="Calibri"/>
                <a:cs typeface="Calibri"/>
                <a:sym typeface="Calibri"/>
              </a:rPr>
            </a:br>
            <a:endParaRPr dirty="0"/>
          </a:p>
        </p:txBody>
      </p:sp>
      <p:sp>
        <p:nvSpPr>
          <p:cNvPr id="739" name="Google Shape;739;p39"/>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10</a:t>
            </a:fld>
            <a:r>
              <a:rPr lang="en-US" sz="900" b="0" i="0" u="none" dirty="0">
                <a:solidFill>
                  <a:srgbClr val="898989"/>
                </a:solidFill>
                <a:latin typeface="Century Gothic"/>
                <a:ea typeface="Century Gothic"/>
                <a:cs typeface="Century Gothic"/>
                <a:sym typeface="Century Gothic"/>
              </a:rPr>
              <a:t> of 12</a:t>
            </a:r>
            <a:endParaRPr dirty="0"/>
          </a:p>
        </p:txBody>
      </p:sp>
      <p:sp>
        <p:nvSpPr>
          <p:cNvPr id="740" name="Google Shape;740;p39"/>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41" name="Google Shape;741;p39"/>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3" name="AutoShape 4">
            <a:extLst>
              <a:ext uri="{FF2B5EF4-FFF2-40B4-BE49-F238E27FC236}">
                <a16:creationId xmlns="" xmlns:a16="http://schemas.microsoft.com/office/drawing/2014/main" id="{4D9B13AB-16C9-C964-6822-3925D025C4C2}"/>
              </a:ext>
            </a:extLst>
          </p:cNvPr>
          <p:cNvSpPr>
            <a:spLocks noGrp="1" noChangeAspect="1" noChangeArrowheads="1"/>
          </p:cNvSpPr>
          <p:nvPr>
            <p:ph type="body" idx="1"/>
          </p:nvPr>
        </p:nvSpPr>
        <p:spPr bwMode="auto">
          <a:xfrm>
            <a:off x="1676400" y="1539875"/>
            <a:ext cx="6591300" cy="3778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a:extLst>
              <a:ext uri="{FF2B5EF4-FFF2-40B4-BE49-F238E27FC236}">
                <a16:creationId xmlns="" xmlns:a16="http://schemas.microsoft.com/office/drawing/2014/main" id="{4D132EA1-1DEF-E95E-7461-0E9B634BE99F}"/>
              </a:ext>
            </a:extLst>
          </p:cNvPr>
          <p:cNvPicPr>
            <a:picLocks noChangeAspect="1"/>
          </p:cNvPicPr>
          <p:nvPr/>
        </p:nvPicPr>
        <p:blipFill>
          <a:blip r:embed="rId3"/>
          <a:stretch>
            <a:fillRect/>
          </a:stretch>
        </p:blipFill>
        <p:spPr>
          <a:xfrm>
            <a:off x="1071074" y="1209368"/>
            <a:ext cx="7195038" cy="4572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44"/>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Proposed Methodology</a:t>
            </a:r>
            <a:endParaRPr dirty="0"/>
          </a:p>
        </p:txBody>
      </p:sp>
      <p:sp>
        <p:nvSpPr>
          <p:cNvPr id="786" name="Google Shape;786;p44"/>
          <p:cNvSpPr txBox="1">
            <a:spLocks noGrp="1"/>
          </p:cNvSpPr>
          <p:nvPr>
            <p:ph type="body" idx="1"/>
          </p:nvPr>
        </p:nvSpPr>
        <p:spPr>
          <a:xfrm>
            <a:off x="1341912" y="1377538"/>
            <a:ext cx="6925788" cy="4607626"/>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Collected dataset consisting of accident and non-accident images from </a:t>
            </a:r>
            <a:r>
              <a:rPr lang="en-US" sz="1800" dirty="0" smtClean="0">
                <a:latin typeface="Times New Roman" panose="02020603050405020304" pitchFamily="18" charset="0"/>
                <a:cs typeface="Times New Roman" panose="02020603050405020304" pitchFamily="18" charset="0"/>
              </a:rPr>
              <a:t>multiple sources.</a:t>
            </a:r>
          </a:p>
          <a:p>
            <a:pPr>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Performed </a:t>
            </a:r>
            <a:r>
              <a:rPr lang="en-US" sz="1800" dirty="0">
                <a:latin typeface="Times New Roman" panose="02020603050405020304" pitchFamily="18" charset="0"/>
                <a:cs typeface="Times New Roman" panose="02020603050405020304" pitchFamily="18" charset="0"/>
              </a:rPr>
              <a:t>basic preprocessing such as resizing and normalization of </a:t>
            </a:r>
            <a:r>
              <a:rPr lang="en-US" sz="1800" dirty="0" smtClean="0">
                <a:latin typeface="Times New Roman" panose="02020603050405020304" pitchFamily="18" charset="0"/>
                <a:cs typeface="Times New Roman" panose="02020603050405020304" pitchFamily="18" charset="0"/>
              </a:rPr>
              <a:t>images.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Trained </a:t>
            </a:r>
            <a:r>
              <a:rPr lang="en-US" sz="1800" dirty="0">
                <a:latin typeface="Times New Roman" panose="02020603050405020304" pitchFamily="18" charset="0"/>
                <a:cs typeface="Times New Roman" panose="02020603050405020304" pitchFamily="18" charset="0"/>
              </a:rPr>
              <a:t>deep learning models to classify accident and non-accident </a:t>
            </a:r>
            <a:r>
              <a:rPr lang="en-US" sz="1800" dirty="0" smtClean="0">
                <a:latin typeface="Times New Roman" panose="02020603050405020304" pitchFamily="18" charset="0"/>
                <a:cs typeface="Times New Roman" panose="02020603050405020304" pitchFamily="18" charset="0"/>
              </a:rPr>
              <a:t>scenarios.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Selected </a:t>
            </a:r>
            <a:r>
              <a:rPr lang="en-US" sz="1800" dirty="0">
                <a:latin typeface="Times New Roman" panose="02020603050405020304" pitchFamily="18" charset="0"/>
                <a:cs typeface="Times New Roman" panose="02020603050405020304" pitchFamily="18" charset="0"/>
              </a:rPr>
              <a:t>the best-performing model based on </a:t>
            </a:r>
            <a:r>
              <a:rPr lang="en-US" sz="1800" dirty="0" smtClean="0">
                <a:latin typeface="Times New Roman" panose="02020603050405020304" pitchFamily="18" charset="0"/>
                <a:cs typeface="Times New Roman" panose="02020603050405020304" pitchFamily="18" charset="0"/>
              </a:rPr>
              <a:t>accuracy.</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Implemented </a:t>
            </a:r>
            <a:r>
              <a:rPr lang="en-US" sz="1800" dirty="0">
                <a:latin typeface="Times New Roman" panose="02020603050405020304" pitchFamily="18" charset="0"/>
                <a:cs typeface="Times New Roman" panose="02020603050405020304" pitchFamily="18" charset="0"/>
              </a:rPr>
              <a:t>real-time detection using camera input and trained </a:t>
            </a:r>
            <a:r>
              <a:rPr lang="en-US" sz="1800" dirty="0" smtClean="0">
                <a:latin typeface="Times New Roman" panose="02020603050405020304" pitchFamily="18" charset="0"/>
                <a:cs typeface="Times New Roman" panose="02020603050405020304" pitchFamily="18" charset="0"/>
              </a:rPr>
              <a:t>model.</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Generated </a:t>
            </a:r>
            <a:r>
              <a:rPr lang="en-US" sz="1800" dirty="0">
                <a:latin typeface="Times New Roman" panose="02020603050405020304" pitchFamily="18" charset="0"/>
                <a:cs typeface="Times New Roman" panose="02020603050405020304" pitchFamily="18" charset="0"/>
              </a:rPr>
              <a:t>automatic alerts with location details upon accident </a:t>
            </a:r>
            <a:r>
              <a:rPr lang="en-US" sz="1800" dirty="0" smtClean="0">
                <a:latin typeface="Times New Roman" panose="02020603050405020304" pitchFamily="18" charset="0"/>
                <a:cs typeface="Times New Roman" panose="02020603050405020304" pitchFamily="18" charset="0"/>
              </a:rPr>
              <a:t>detection.</a:t>
            </a:r>
            <a:endParaRPr lang="en-US" sz="1800" dirty="0">
              <a:latin typeface="Times New Roman" panose="02020603050405020304" pitchFamily="18" charset="0"/>
              <a:cs typeface="Times New Roman" panose="02020603050405020304" pitchFamily="18" charset="0"/>
            </a:endParaRPr>
          </a:p>
          <a:p>
            <a:pPr marL="114300" indent="0">
              <a:buNone/>
            </a:pPr>
            <a:r>
              <a:rPr lang="en-IN"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342900" marR="0" lvl="0" indent="-228600" algn="l" rtl="0">
              <a:spcBef>
                <a:spcPts val="1800"/>
              </a:spcBef>
              <a:spcAft>
                <a:spcPts val="0"/>
              </a:spcAft>
              <a:buClr>
                <a:schemeClr val="accent1"/>
              </a:buClr>
              <a:buSzPts val="1800"/>
              <a:buFont typeface="Noto Sans Symbols"/>
              <a:buNone/>
            </a:pPr>
            <a:endParaRPr sz="1800" b="0" i="0" u="none" dirty="0">
              <a:solidFill>
                <a:srgbClr val="404040"/>
              </a:solidFill>
              <a:latin typeface="Times New Roman" panose="02020603050405020304" pitchFamily="18" charset="0"/>
              <a:ea typeface="Times"/>
              <a:cs typeface="Times New Roman" panose="02020603050405020304" pitchFamily="18" charset="0"/>
              <a:sym typeface="Times"/>
            </a:endParaRPr>
          </a:p>
        </p:txBody>
      </p:sp>
      <p:sp>
        <p:nvSpPr>
          <p:cNvPr id="787" name="Google Shape;787;p44"/>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11</a:t>
            </a:fld>
            <a:r>
              <a:rPr lang="en-US" sz="900" b="0" i="0" u="none" dirty="0">
                <a:solidFill>
                  <a:srgbClr val="898989"/>
                </a:solidFill>
                <a:latin typeface="Century Gothic"/>
                <a:ea typeface="Century Gothic"/>
                <a:cs typeface="Century Gothic"/>
                <a:sym typeface="Century Gothic"/>
              </a:rPr>
              <a:t> of 12</a:t>
            </a:r>
            <a:endParaRPr dirty="0"/>
          </a:p>
        </p:txBody>
      </p:sp>
      <p:sp>
        <p:nvSpPr>
          <p:cNvPr id="788" name="Google Shape;788;p44"/>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89" name="Google Shape;789;p44"/>
          <p:cNvSpPr txBox="1"/>
          <p:nvPr/>
        </p:nvSpPr>
        <p:spPr>
          <a:xfrm>
            <a:off x="2819400" y="6156325"/>
            <a:ext cx="57165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41"/>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Design &amp; Implementation</a:t>
            </a:r>
          </a:p>
        </p:txBody>
      </p:sp>
      <p:sp>
        <p:nvSpPr>
          <p:cNvPr id="757" name="Google Shape;757;p41"/>
          <p:cNvSpPr txBox="1">
            <a:spLocks noGrp="1"/>
          </p:cNvSpPr>
          <p:nvPr>
            <p:ph type="body" idx="1"/>
          </p:nvPr>
        </p:nvSpPr>
        <p:spPr>
          <a:xfrm>
            <a:off x="1676400" y="1320798"/>
            <a:ext cx="6591300" cy="4819651"/>
          </a:xfrm>
          <a:prstGeom prst="rect">
            <a:avLst/>
          </a:prstGeom>
          <a:noFill/>
          <a:ln>
            <a:noFill/>
          </a:ln>
        </p:spPr>
        <p:txBody>
          <a:bodyPr spcFirstLastPara="1" wrap="square" lIns="91425" tIns="45700" rIns="91425" bIns="45700" anchor="t" anchorCtr="0">
            <a:noAutofit/>
          </a:bodyPr>
          <a:lstStyle/>
          <a:p>
            <a:pPr marL="342900" lvl="0" indent="-228600">
              <a:spcBef>
                <a:spcPts val="0"/>
              </a:spcBef>
              <a:buNone/>
            </a:pPr>
            <a:r>
              <a:rPr lang="en-IN" sz="1800" b="1" dirty="0">
                <a:latin typeface="Times New Roman" panose="02020603050405020304" pitchFamily="18" charset="0"/>
                <a:cs typeface="Times New Roman" panose="02020603050405020304" pitchFamily="18" charset="0"/>
              </a:rPr>
              <a:t>System </a:t>
            </a:r>
            <a:r>
              <a:rPr lang="en-IN" sz="1800" b="1" dirty="0" smtClean="0">
                <a:latin typeface="Times New Roman" panose="02020603050405020304" pitchFamily="18" charset="0"/>
                <a:cs typeface="Times New Roman" panose="02020603050405020304" pitchFamily="18" charset="0"/>
              </a:rPr>
              <a:t>Architecture</a:t>
            </a:r>
          </a:p>
          <a:p>
            <a:pPr lvl="0">
              <a:spcBef>
                <a:spcPts val="0"/>
              </a:spcBef>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system captures </a:t>
            </a:r>
            <a:r>
              <a:rPr lang="en-US" sz="1800" dirty="0" smtClean="0">
                <a:latin typeface="Times New Roman" panose="02020603050405020304" pitchFamily="18" charset="0"/>
                <a:cs typeface="Times New Roman" panose="02020603050405020304" pitchFamily="18" charset="0"/>
              </a:rPr>
              <a:t>image input </a:t>
            </a:r>
            <a:r>
              <a:rPr lang="en-US" sz="1800" dirty="0">
                <a:latin typeface="Times New Roman" panose="02020603050405020304" pitchFamily="18" charset="0"/>
                <a:cs typeface="Times New Roman" panose="02020603050405020304" pitchFamily="18" charset="0"/>
              </a:rPr>
              <a:t>from a </a:t>
            </a:r>
            <a:r>
              <a:rPr lang="en-US" sz="1800" dirty="0" smtClean="0">
                <a:latin typeface="Times New Roman" panose="02020603050405020304" pitchFamily="18" charset="0"/>
                <a:cs typeface="Times New Roman" panose="02020603050405020304" pitchFamily="18" charset="0"/>
              </a:rPr>
              <a:t>camera.</a:t>
            </a:r>
            <a:endParaRPr lang="en-US" sz="1800" dirty="0">
              <a:latin typeface="Times New Roman" panose="02020603050405020304" pitchFamily="18" charset="0"/>
              <a:cs typeface="Times New Roman" panose="02020603050405020304" pitchFamily="18" charset="0"/>
            </a:endParaRPr>
          </a:p>
          <a:p>
            <a:pPr lvl="0">
              <a:spcBef>
                <a:spcPts val="0"/>
              </a:spcBef>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These images </a:t>
            </a:r>
            <a:r>
              <a:rPr lang="en-US" sz="1800" dirty="0">
                <a:latin typeface="Times New Roman" panose="02020603050405020304" pitchFamily="18" charset="0"/>
                <a:cs typeface="Times New Roman" panose="02020603050405020304" pitchFamily="18" charset="0"/>
              </a:rPr>
              <a:t>are processed using a trained deep learning model for </a:t>
            </a:r>
            <a:r>
              <a:rPr lang="en-US" sz="1800" dirty="0" smtClean="0">
                <a:latin typeface="Times New Roman" panose="02020603050405020304" pitchFamily="18" charset="0"/>
                <a:cs typeface="Times New Roman" panose="02020603050405020304" pitchFamily="18" charset="0"/>
              </a:rPr>
              <a:t>prediction.</a:t>
            </a:r>
            <a:endParaRPr lang="en-US" sz="1800" dirty="0">
              <a:latin typeface="Times New Roman" panose="02020603050405020304" pitchFamily="18" charset="0"/>
              <a:cs typeface="Times New Roman" panose="02020603050405020304" pitchFamily="18" charset="0"/>
            </a:endParaRPr>
          </a:p>
          <a:p>
            <a:pPr lvl="0">
              <a:spcBef>
                <a:spcPts val="0"/>
              </a:spcBef>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Once </a:t>
            </a:r>
            <a:r>
              <a:rPr lang="en-US" sz="1800" dirty="0">
                <a:latin typeface="Times New Roman" panose="02020603050405020304" pitchFamily="18" charset="0"/>
                <a:cs typeface="Times New Roman" panose="02020603050405020304" pitchFamily="18" charset="0"/>
              </a:rPr>
              <a:t>an accident is detected, the system identifies the location and generates an alert.</a:t>
            </a:r>
          </a:p>
          <a:p>
            <a:pPr marL="342900" indent="-228600">
              <a:spcBef>
                <a:spcPts val="0"/>
              </a:spcBef>
              <a:buNone/>
            </a:pPr>
            <a:endParaRPr lang="en-US" sz="1800" dirty="0">
              <a:latin typeface="Times New Roman" panose="02020603050405020304" pitchFamily="18" charset="0"/>
              <a:cs typeface="Times New Roman" panose="02020603050405020304" pitchFamily="18" charset="0"/>
            </a:endParaRPr>
          </a:p>
          <a:p>
            <a:pPr marL="342900" indent="-228600">
              <a:spcBef>
                <a:spcPts val="0"/>
              </a:spcBef>
              <a:buNone/>
            </a:pPr>
            <a:r>
              <a:rPr lang="en-US" sz="1800" b="1" dirty="0">
                <a:latin typeface="Times New Roman" panose="02020603050405020304" pitchFamily="18" charset="0"/>
                <a:cs typeface="Times New Roman" panose="02020603050405020304" pitchFamily="18" charset="0"/>
              </a:rPr>
              <a:t>Data Handling (instead of Database Design)</a:t>
            </a:r>
          </a:p>
          <a:p>
            <a:pPr marL="114300" indent="0">
              <a:buNone/>
            </a:pPr>
            <a:r>
              <a:rPr lang="en-US" sz="1800" dirty="0">
                <a:latin typeface="Times New Roman" panose="02020603050405020304" pitchFamily="18" charset="0"/>
                <a:cs typeface="Times New Roman" panose="02020603050405020304" pitchFamily="18" charset="0"/>
              </a:rPr>
              <a:t>• The dataset consists of accident and non-accident   images used for training the model.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The data is preprocessed by resizing and normalizing images before training.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Camera locations are stored as predefined coordinate values for alert generation.</a:t>
            </a:r>
          </a:p>
          <a:p>
            <a:pPr marL="114300" indent="0">
              <a:buNone/>
            </a:pPr>
            <a:endParaRPr lang="en-US" sz="1800" dirty="0">
              <a:latin typeface="Times New Roman" panose="02020603050405020304" pitchFamily="18" charset="0"/>
              <a:cs typeface="Times New Roman" panose="02020603050405020304" pitchFamily="18" charset="0"/>
            </a:endParaRPr>
          </a:p>
          <a:p>
            <a:pPr marL="342900" lvl="0" indent="-228600">
              <a:spcBef>
                <a:spcPts val="0"/>
              </a:spcBef>
              <a:buNone/>
            </a:pPr>
            <a:endParaRPr sz="1800" b="0" i="0" u="none" dirty="0">
              <a:solidFill>
                <a:srgbClr val="404040"/>
              </a:solidFill>
              <a:latin typeface="Times New Roman" panose="02020603050405020304" pitchFamily="18" charset="0"/>
              <a:ea typeface="Calibri"/>
              <a:cs typeface="Times New Roman" panose="02020603050405020304" pitchFamily="18" charset="0"/>
              <a:sym typeface="Calibri"/>
            </a:endParaRPr>
          </a:p>
        </p:txBody>
      </p:sp>
      <p:sp>
        <p:nvSpPr>
          <p:cNvPr id="758" name="Google Shape;758;p41"/>
          <p:cNvSpPr txBox="1"/>
          <p:nvPr/>
        </p:nvSpPr>
        <p:spPr>
          <a:xfrm>
            <a:off x="1371600" y="6099175"/>
            <a:ext cx="10668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59" name="Google Shape;759;p41"/>
          <p:cNvSpPr txBox="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760" name="Google Shape;760;p41"/>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12</a:t>
            </a:fld>
            <a:r>
              <a:rPr lang="en-US" sz="900" b="0" i="0" u="none" dirty="0">
                <a:solidFill>
                  <a:srgbClr val="898989"/>
                </a:solidFill>
                <a:latin typeface="Century Gothic"/>
                <a:ea typeface="Century Gothic"/>
                <a:cs typeface="Century Gothic"/>
                <a:sym typeface="Century Gothic"/>
              </a:rPr>
              <a:t> of 12</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0FAA6D20-D9B2-DC13-BDF4-2F1369F8CBD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sz="1400" dirty="0">
              <a:solidFill>
                <a:srgbClr val="000000"/>
              </a:solidFill>
              <a:latin typeface="Arial"/>
              <a:ea typeface="Arial"/>
              <a:cs typeface="Arial"/>
              <a:sym typeface="Arial"/>
            </a:endParaRPr>
          </a:p>
        </p:txBody>
      </p:sp>
      <p:sp>
        <p:nvSpPr>
          <p:cNvPr id="4" name="TextBox 3">
            <a:extLst>
              <a:ext uri="{FF2B5EF4-FFF2-40B4-BE49-F238E27FC236}">
                <a16:creationId xmlns="" xmlns:a16="http://schemas.microsoft.com/office/drawing/2014/main" id="{D9D7220D-94AA-D515-39E4-03490EAAE19A}"/>
              </a:ext>
            </a:extLst>
          </p:cNvPr>
          <p:cNvSpPr txBox="1"/>
          <p:nvPr/>
        </p:nvSpPr>
        <p:spPr>
          <a:xfrm>
            <a:off x="870155" y="1720840"/>
            <a:ext cx="7403690" cy="3416320"/>
          </a:xfrm>
          <a:prstGeom prst="rect">
            <a:avLst/>
          </a:prstGeom>
          <a:noFill/>
        </p:spPr>
        <p:txBody>
          <a:bodyPr wrap="square">
            <a:spAutoFit/>
          </a:bodyPr>
          <a:lstStyle/>
          <a:p>
            <a:pPr>
              <a:buNone/>
            </a:pPr>
            <a:r>
              <a:rPr lang="en-US" sz="1800" b="1" dirty="0">
                <a:latin typeface="Arial" panose="020B0604020202020204" pitchFamily="34" charset="0"/>
                <a:cs typeface="Arial" panose="020B0604020202020204" pitchFamily="34" charset="0"/>
              </a:rPr>
              <a:t>Platforms / Systems / Services</a:t>
            </a:r>
          </a:p>
          <a:p>
            <a:pPr>
              <a:buNone/>
            </a:pPr>
            <a:r>
              <a:rPr lang="en-US" sz="1800" dirty="0">
                <a:latin typeface="Arial" panose="020B0604020202020204" pitchFamily="34" charset="0"/>
                <a:cs typeface="Arial" panose="020B0604020202020204" pitchFamily="34" charset="0"/>
              </a:rPr>
              <a:t>• The system is developed using Python along with TensorFlow/Keras and OpenCV.</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Twilio API is used for sending WhatsApp alerts.</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Geopy and Geocoder are used for location processing.</a:t>
            </a:r>
          </a:p>
          <a:p>
            <a:pPr>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pPr>
              <a:buNone/>
            </a:pPr>
            <a:r>
              <a:rPr lang="en-US" sz="1800" b="1" dirty="0">
                <a:latin typeface="Arial" panose="020B0604020202020204" pitchFamily="34" charset="0"/>
                <a:cs typeface="Arial" panose="020B0604020202020204" pitchFamily="34" charset="0"/>
              </a:rPr>
              <a:t>Module Relationships</a:t>
            </a:r>
          </a:p>
          <a:p>
            <a:pPr>
              <a:buNone/>
            </a:pPr>
            <a:r>
              <a:rPr lang="en-US" sz="1800" dirty="0">
                <a:latin typeface="Arial" panose="020B0604020202020204" pitchFamily="34" charset="0"/>
                <a:cs typeface="Arial" panose="020B0604020202020204" pitchFamily="34" charset="0"/>
              </a:rPr>
              <a:t>• The detection module identifies accident scenarios from input data.</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The location module retrieves coordinates and converts them into </a:t>
            </a:r>
            <a:r>
              <a:rPr lang="en-US" sz="1800" dirty="0" smtClean="0">
                <a:latin typeface="Arial" panose="020B0604020202020204" pitchFamily="34" charset="0"/>
                <a:cs typeface="Arial" panose="020B0604020202020204" pitchFamily="34" charset="0"/>
              </a:rPr>
              <a:t>an address</a:t>
            </a:r>
            <a:r>
              <a:rPr lang="en-US" sz="1800" dirty="0">
                <a:latin typeface="Arial" panose="020B0604020202020204" pitchFamily="34" charset="0"/>
                <a:cs typeface="Arial" panose="020B0604020202020204" pitchFamily="34" charset="0"/>
              </a:rPr>
              <a:t>.</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The alert module sends notifications to emergency services</a:t>
            </a:r>
            <a:r>
              <a:rPr lang="en-US" sz="1800" dirty="0"/>
              <a:t>.</a:t>
            </a:r>
          </a:p>
        </p:txBody>
      </p:sp>
    </p:spTree>
    <p:extLst>
      <p:ext uri="{BB962C8B-B14F-4D97-AF65-F5344CB8AC3E}">
        <p14:creationId xmlns:p14="http://schemas.microsoft.com/office/powerpoint/2010/main" val="2749645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043" y="624110"/>
            <a:ext cx="7014358" cy="694051"/>
          </a:xfrm>
        </p:spPr>
        <p:txBody>
          <a:bodyPr/>
          <a:lstStyle/>
          <a:p>
            <a:r>
              <a:rPr lang="en-US" b="1" dirty="0">
                <a:latin typeface="Calibri"/>
                <a:ea typeface="Calibri"/>
                <a:cs typeface="Calibri"/>
                <a:sym typeface="Calibri"/>
              </a:rPr>
              <a:t>Design</a:t>
            </a:r>
            <a:endParaRPr lang="en-US" dirty="0"/>
          </a:p>
        </p:txBody>
      </p:sp>
      <p:sp>
        <p:nvSpPr>
          <p:cNvPr id="3" name="Text Placeholder 2"/>
          <p:cNvSpPr>
            <a:spLocks noGrp="1"/>
          </p:cNvSpPr>
          <p:nvPr>
            <p:ph type="body" idx="1"/>
          </p:nvPr>
        </p:nvSpPr>
        <p:spPr>
          <a:xfrm>
            <a:off x="285008" y="1472539"/>
            <a:ext cx="8249393" cy="5130141"/>
          </a:xfrm>
        </p:spPr>
        <p:txBody>
          <a:bodyPr/>
          <a:lstStyle/>
          <a:p>
            <a:pPr marL="114300" indent="0">
              <a:buNone/>
            </a:pPr>
            <a:endParaRPr lang="en-US" dirty="0" smtClean="0"/>
          </a:p>
          <a:p>
            <a:pPr marL="114300" indent="0">
              <a:buNone/>
            </a:pPr>
            <a:endParaRPr lang="en-US" dirty="0"/>
          </a:p>
          <a:p>
            <a:pPr marL="114300" indent="0">
              <a:buNone/>
            </a:pPr>
            <a:endParaRPr lang="en-US" dirty="0" smtClean="0"/>
          </a:p>
          <a:p>
            <a:pPr marL="114300" indent="0">
              <a:buNone/>
            </a:pPr>
            <a:endParaRPr lang="en-US" dirty="0"/>
          </a:p>
          <a:p>
            <a:pPr marL="114300" indent="0">
              <a:buNone/>
            </a:pPr>
            <a:endParaRPr lang="en-US" dirty="0" smtClean="0"/>
          </a:p>
          <a:p>
            <a:pPr marL="114300" indent="0">
              <a:buNone/>
            </a:pPr>
            <a:endParaRPr lang="en-US" dirty="0"/>
          </a:p>
          <a:p>
            <a:pPr marL="114300" indent="0">
              <a:buNone/>
            </a:pPr>
            <a:r>
              <a:rPr lang="en-US" sz="1800" dirty="0" smtClean="0"/>
              <a:t>  </a:t>
            </a:r>
          </a:p>
          <a:p>
            <a:pPr marL="114300" indent="0">
              <a:buNone/>
            </a:pPr>
            <a:r>
              <a:rPr lang="en-US" sz="1800" dirty="0"/>
              <a:t> </a:t>
            </a:r>
            <a:r>
              <a:rPr lang="en-US" sz="1800" dirty="0" smtClean="0"/>
              <a:t>              </a:t>
            </a:r>
            <a:r>
              <a:rPr lang="en-US" sz="1800" dirty="0"/>
              <a:t>design flow-chart of accident detection and alert system</a:t>
            </a:r>
          </a:p>
          <a:p>
            <a:pPr marL="114300" indent="0">
              <a:buNone/>
            </a:pPr>
            <a:endParaRPr lang="en-US" dirty="0" smtClean="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870" y="1282535"/>
            <a:ext cx="7464056" cy="4310744"/>
          </a:xfrm>
          <a:prstGeom prst="rect">
            <a:avLst/>
          </a:prstGeom>
        </p:spPr>
      </p:pic>
    </p:spTree>
    <p:extLst>
      <p:ext uri="{BB962C8B-B14F-4D97-AF65-F5344CB8AC3E}">
        <p14:creationId xmlns:p14="http://schemas.microsoft.com/office/powerpoint/2010/main" val="1300765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520" y="624110"/>
            <a:ext cx="7821882" cy="800929"/>
          </a:xfrm>
        </p:spPr>
        <p:txBody>
          <a:bodyPr/>
          <a:lstStyle/>
          <a:p>
            <a:r>
              <a:rPr lang="en-US" dirty="0" smtClean="0">
                <a:solidFill>
                  <a:schemeClr val="tx1"/>
                </a:solidFill>
              </a:rPr>
              <a:t>.</a:t>
            </a:r>
            <a:endParaRPr lang="en-US" dirty="0">
              <a:solidFill>
                <a:schemeClr val="tx1"/>
              </a:solidFill>
            </a:endParaRPr>
          </a:p>
        </p:txBody>
      </p:sp>
      <p:sp>
        <p:nvSpPr>
          <p:cNvPr id="3" name="Text Placeholder 2"/>
          <p:cNvSpPr>
            <a:spLocks noGrp="1"/>
          </p:cNvSpPr>
          <p:nvPr>
            <p:ph type="body" idx="1"/>
          </p:nvPr>
        </p:nvSpPr>
        <p:spPr>
          <a:xfrm>
            <a:off x="1241771" y="1413165"/>
            <a:ext cx="7332213" cy="4462432"/>
          </a:xfrm>
        </p:spPr>
        <p:txBody>
          <a:bodyPr/>
          <a:lstStyle/>
          <a:p>
            <a:pPr marL="114300" indent="0">
              <a:buNone/>
            </a:pPr>
            <a:r>
              <a:rPr lang="en-US" sz="1800" dirty="0">
                <a:latin typeface="Times New Roman" panose="02020603050405020304" pitchFamily="18" charset="0"/>
                <a:cs typeface="Times New Roman" panose="02020603050405020304" pitchFamily="18" charset="0"/>
              </a:rPr>
              <a:t>The above image illustrates the complete workflow of an accident detection and alert system. Initially, a traffic surveillance camera captures a road accident, which is analyzed by a deep learning model to detect the incident in real time. Once an accident is identified, the system immediately sends an alert with precise location details to a central server, which then forwards the information to the nearest hospital. The hospital receives the alert and prepares for emergency response, while an ambulance is dispatched through the fastest route using navigation guidance. The mobile alert interface displays key details such as coordinates, distance and route to the hospital. This system ensures faster emergency response, reduces traffic delays through optimized routing, and ultimately contributes to saving lives and improving road safety.</a:t>
            </a:r>
          </a:p>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999353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791" y="356260"/>
            <a:ext cx="7085610" cy="855023"/>
          </a:xfrm>
        </p:spPr>
        <p:txBody>
          <a:bodyPr/>
          <a:lstStyle/>
          <a:p>
            <a:r>
              <a:rPr lang="en-IN" b="1" dirty="0">
                <a:latin typeface="Calibri"/>
                <a:cs typeface="Calibri"/>
              </a:rPr>
              <a:t>Results </a:t>
            </a:r>
            <a:endParaRPr lang="en-US" dirty="0"/>
          </a:p>
        </p:txBody>
      </p:sp>
      <p:sp>
        <p:nvSpPr>
          <p:cNvPr id="3" name="Text Placeholder 2"/>
          <p:cNvSpPr>
            <a:spLocks noGrp="1"/>
          </p:cNvSpPr>
          <p:nvPr>
            <p:ph type="body" idx="1"/>
          </p:nvPr>
        </p:nvSpPr>
        <p:spPr>
          <a:xfrm>
            <a:off x="1330037" y="997527"/>
            <a:ext cx="7204364" cy="4913695"/>
          </a:xfrm>
        </p:spPr>
        <p:txBody>
          <a:bodyPr/>
          <a:lstStyle/>
          <a:p>
            <a:pPr marL="114300" indent="0">
              <a:buNone/>
            </a:pPr>
            <a:r>
              <a:rPr lang="en-US" sz="1800" dirty="0">
                <a:latin typeface="Times New Roman" panose="02020603050405020304" pitchFamily="18" charset="0"/>
                <a:cs typeface="Times New Roman" panose="02020603050405020304" pitchFamily="18" charset="0"/>
              </a:rPr>
              <a:t>Training vs Validation Loss </a:t>
            </a:r>
            <a:r>
              <a:rPr lang="en-US" sz="1800" dirty="0" smtClean="0">
                <a:latin typeface="Times New Roman" panose="02020603050405020304" pitchFamily="18" charset="0"/>
                <a:cs typeface="Times New Roman" panose="02020603050405020304" pitchFamily="18" charset="0"/>
              </a:rPr>
              <a:t>Graph</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The graph shows that both training and validation loss decreases steadily over epochs, which indicates model is learning efficiently with minimal overfitting.</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078182" y="1707160"/>
            <a:ext cx="4726379" cy="2374900"/>
          </a:xfrm>
          <a:prstGeom prst="rect">
            <a:avLst/>
          </a:prstGeom>
          <a:noFill/>
          <a:ln>
            <a:noFill/>
          </a:ln>
        </p:spPr>
      </p:pic>
    </p:spTree>
    <p:extLst>
      <p:ext uri="{BB962C8B-B14F-4D97-AF65-F5344CB8AC3E}">
        <p14:creationId xmlns:p14="http://schemas.microsoft.com/office/powerpoint/2010/main" val="458520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398" y="695362"/>
            <a:ext cx="7144987" cy="504046"/>
          </a:xfrm>
        </p:spPr>
        <p:txBody>
          <a:bodyPr/>
          <a:lstStyle/>
          <a:p>
            <a:r>
              <a:rPr lang="en-US" dirty="0" smtClean="0">
                <a:solidFill>
                  <a:schemeClr val="tx1"/>
                </a:solidFill>
              </a:rPr>
              <a:t>.</a:t>
            </a:r>
            <a:endParaRPr lang="en-US" dirty="0">
              <a:solidFill>
                <a:schemeClr val="tx1"/>
              </a:solidFill>
            </a:endParaRPr>
          </a:p>
        </p:txBody>
      </p:sp>
      <p:sp>
        <p:nvSpPr>
          <p:cNvPr id="3" name="Text Placeholder 2"/>
          <p:cNvSpPr>
            <a:spLocks noGrp="1"/>
          </p:cNvSpPr>
          <p:nvPr>
            <p:ph type="body" idx="1"/>
          </p:nvPr>
        </p:nvSpPr>
        <p:spPr>
          <a:xfrm>
            <a:off x="1413165" y="1056904"/>
            <a:ext cx="7121236" cy="4854318"/>
          </a:xfrm>
        </p:spPr>
        <p:txBody>
          <a:bodyPr/>
          <a:lstStyle/>
          <a:p>
            <a:pPr marL="114300" indent="0">
              <a:buNone/>
            </a:pPr>
            <a:r>
              <a:rPr lang="en-US" sz="1800" dirty="0">
                <a:latin typeface="Times New Roman" panose="02020603050405020304" pitchFamily="18" charset="0"/>
                <a:cs typeface="Times New Roman" panose="02020603050405020304" pitchFamily="18" charset="0"/>
              </a:rPr>
              <a:t>Predicted Probability vs Actual </a:t>
            </a:r>
            <a:r>
              <a:rPr lang="en-US" sz="1800" dirty="0" smtClean="0">
                <a:latin typeface="Times New Roman" panose="02020603050405020304" pitchFamily="18" charset="0"/>
                <a:cs typeface="Times New Roman" panose="02020603050405020304" pitchFamily="18" charset="0"/>
              </a:rPr>
              <a:t>Value</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Most of the predictions matches actual labels, which indicates model performs accurately with less mismatches.</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244731" y="1795549"/>
            <a:ext cx="4322321" cy="2337064"/>
          </a:xfrm>
          <a:prstGeom prst="rect">
            <a:avLst/>
          </a:prstGeom>
          <a:noFill/>
        </p:spPr>
      </p:pic>
    </p:spTree>
    <p:extLst>
      <p:ext uri="{BB962C8B-B14F-4D97-AF65-F5344CB8AC3E}">
        <p14:creationId xmlns:p14="http://schemas.microsoft.com/office/powerpoint/2010/main" val="723134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268" y="339102"/>
            <a:ext cx="6646223" cy="990934"/>
          </a:xfrm>
        </p:spPr>
        <p:txBody>
          <a:bodyPr/>
          <a:lstStyle/>
          <a:p>
            <a:r>
              <a:rPr lang="en-US" dirty="0" smtClean="0">
                <a:solidFill>
                  <a:schemeClr val="tx1"/>
                </a:solidFill>
              </a:rPr>
              <a:t>.</a:t>
            </a:r>
            <a:endParaRPr lang="en-US" dirty="0">
              <a:solidFill>
                <a:schemeClr val="tx1"/>
              </a:solidFill>
            </a:endParaRPr>
          </a:p>
        </p:txBody>
      </p:sp>
      <p:sp>
        <p:nvSpPr>
          <p:cNvPr id="3" name="Text Placeholder 2"/>
          <p:cNvSpPr>
            <a:spLocks noGrp="1"/>
          </p:cNvSpPr>
          <p:nvPr>
            <p:ph type="body" idx="1"/>
          </p:nvPr>
        </p:nvSpPr>
        <p:spPr>
          <a:xfrm>
            <a:off x="1396149" y="961901"/>
            <a:ext cx="6591985" cy="5355772"/>
          </a:xfrm>
        </p:spPr>
        <p:txBody>
          <a:bodyPr/>
          <a:lstStyle/>
          <a:p>
            <a:pPr marL="114300" indent="0">
              <a:buNone/>
            </a:pPr>
            <a:r>
              <a:rPr lang="en-US" sz="1800" dirty="0">
                <a:latin typeface="Times New Roman" panose="02020603050405020304" pitchFamily="18" charset="0"/>
                <a:cs typeface="Times New Roman" panose="02020603050405020304" pitchFamily="18" charset="0"/>
              </a:rPr>
              <a:t>Distribution of Prediction Across </a:t>
            </a:r>
            <a:r>
              <a:rPr lang="en-US" sz="1800" dirty="0" smtClean="0">
                <a:latin typeface="Times New Roman" panose="02020603050405020304" pitchFamily="18" charset="0"/>
                <a:cs typeface="Times New Roman" panose="02020603050405020304" pitchFamily="18" charset="0"/>
              </a:rPr>
              <a:t>Models</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Model like ResNet50 and VCG16 shows more consistent predictions with less variation, while CNN and MobileNetV2 shows wider spread which indicates higher uncertainity in accident classification.</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935675" y="1501733"/>
            <a:ext cx="4583875" cy="2667000"/>
          </a:xfrm>
          <a:prstGeom prst="rect">
            <a:avLst/>
          </a:prstGeom>
          <a:noFill/>
        </p:spPr>
      </p:pic>
    </p:spTree>
    <p:extLst>
      <p:ext uri="{BB962C8B-B14F-4D97-AF65-F5344CB8AC3E}">
        <p14:creationId xmlns:p14="http://schemas.microsoft.com/office/powerpoint/2010/main" val="4143373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015" y="624110"/>
            <a:ext cx="7073735" cy="717802"/>
          </a:xfrm>
        </p:spPr>
        <p:txBody>
          <a:bodyPr/>
          <a:lstStyle/>
          <a:p>
            <a:r>
              <a:rPr lang="en-US" dirty="0" smtClean="0">
                <a:solidFill>
                  <a:schemeClr val="tx1"/>
                </a:solidFill>
              </a:rPr>
              <a:t>.</a:t>
            </a:r>
            <a:endParaRPr lang="en-US" dirty="0">
              <a:solidFill>
                <a:schemeClr val="tx1"/>
              </a:solidFill>
            </a:endParaRPr>
          </a:p>
        </p:txBody>
      </p:sp>
      <p:sp>
        <p:nvSpPr>
          <p:cNvPr id="3" name="Text Placeholder 2"/>
          <p:cNvSpPr>
            <a:spLocks noGrp="1"/>
          </p:cNvSpPr>
          <p:nvPr>
            <p:ph type="body" idx="1"/>
          </p:nvPr>
        </p:nvSpPr>
        <p:spPr>
          <a:xfrm>
            <a:off x="1425038" y="961901"/>
            <a:ext cx="7125195" cy="5296395"/>
          </a:xfrm>
        </p:spPr>
        <p:txBody>
          <a:bodyPr/>
          <a:lstStyle/>
          <a:p>
            <a:pPr marL="114300" indent="0">
              <a:buNone/>
            </a:pPr>
            <a:r>
              <a:rPr lang="en-US" sz="1800" dirty="0">
                <a:latin typeface="Times New Roman" panose="02020603050405020304" pitchFamily="18" charset="0"/>
                <a:cs typeface="Times New Roman" panose="02020603050405020304" pitchFamily="18" charset="0"/>
              </a:rPr>
              <a:t>Model </a:t>
            </a:r>
            <a:r>
              <a:rPr lang="en-US" sz="1800" dirty="0" smtClean="0">
                <a:latin typeface="Times New Roman" panose="02020603050405020304" pitchFamily="18" charset="0"/>
                <a:cs typeface="Times New Roman" panose="02020603050405020304" pitchFamily="18" charset="0"/>
              </a:rPr>
              <a:t>Accuracy Comparison graph</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The graph illustrates the performance comparison of various model for accident detection based on validation accuracy.                   </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113808" y="1625691"/>
            <a:ext cx="4572000" cy="2561590"/>
          </a:xfrm>
          <a:prstGeom prst="rect">
            <a:avLst/>
          </a:prstGeom>
          <a:noFill/>
          <a:ln>
            <a:noFill/>
          </a:ln>
        </p:spPr>
      </p:pic>
    </p:spTree>
    <p:extLst>
      <p:ext uri="{BB962C8B-B14F-4D97-AF65-F5344CB8AC3E}">
        <p14:creationId xmlns:p14="http://schemas.microsoft.com/office/powerpoint/2010/main" val="3359275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151" y="339103"/>
            <a:ext cx="7097485" cy="872180"/>
          </a:xfrm>
        </p:spPr>
        <p:txBody>
          <a:bodyPr/>
          <a:lstStyle/>
          <a:p>
            <a:r>
              <a:rPr lang="en-US" dirty="0" smtClean="0"/>
              <a:t>             </a:t>
            </a:r>
            <a:endParaRPr lang="en-US" dirty="0"/>
          </a:p>
        </p:txBody>
      </p:sp>
      <p:sp>
        <p:nvSpPr>
          <p:cNvPr id="3" name="Text Placeholder 2"/>
          <p:cNvSpPr>
            <a:spLocks noGrp="1"/>
          </p:cNvSpPr>
          <p:nvPr>
            <p:ph type="body" idx="1"/>
          </p:nvPr>
        </p:nvSpPr>
        <p:spPr>
          <a:xfrm>
            <a:off x="1467402" y="926275"/>
            <a:ext cx="6591985" cy="5213267"/>
          </a:xfrm>
        </p:spPr>
        <p:txBody>
          <a:bodyPr/>
          <a:lstStyle/>
          <a:p>
            <a:pPr marL="114300" indent="0">
              <a:buNone/>
            </a:pPr>
            <a:r>
              <a:rPr lang="en-US" sz="1800" dirty="0">
                <a:latin typeface="Times New Roman" panose="02020603050405020304" pitchFamily="18" charset="0"/>
                <a:cs typeface="Times New Roman" panose="02020603050405020304" pitchFamily="18" charset="0"/>
              </a:rPr>
              <a:t>Normalized Comparison of ML </a:t>
            </a:r>
            <a:r>
              <a:rPr lang="en-US" sz="1800" dirty="0" smtClean="0">
                <a:latin typeface="Times New Roman" panose="02020603050405020304" pitchFamily="18" charset="0"/>
                <a:cs typeface="Times New Roman" panose="02020603050405020304" pitchFamily="18" charset="0"/>
              </a:rPr>
              <a:t>Models</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The graph represents a normalized performance comparison based on accuracy, precision, recall and F1-score. Among all the models MobileNetV2 achieved the highest performance.</a:t>
            </a: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smtClean="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220686" y="1531966"/>
            <a:ext cx="4631376" cy="2624397"/>
          </a:xfrm>
          <a:prstGeom prst="rect">
            <a:avLst/>
          </a:prstGeom>
          <a:noFill/>
        </p:spPr>
      </p:pic>
    </p:spTree>
    <p:extLst>
      <p:ext uri="{BB962C8B-B14F-4D97-AF65-F5344CB8AC3E}">
        <p14:creationId xmlns:p14="http://schemas.microsoft.com/office/powerpoint/2010/main" val="2101562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791" y="624110"/>
            <a:ext cx="7085610" cy="895932"/>
          </a:xfrm>
        </p:spPr>
        <p:txBody>
          <a:bodyPr/>
          <a:lstStyle/>
          <a:p>
            <a:r>
              <a:rPr lang="en-IN" sz="3200" b="1" dirty="0" smtClean="0">
                <a:latin typeface="Calibri"/>
                <a:cs typeface="Calibri"/>
              </a:rPr>
              <a:t>Discussion</a:t>
            </a:r>
            <a:endParaRPr lang="en-US" sz="3200" b="1" dirty="0"/>
          </a:p>
        </p:txBody>
      </p:sp>
      <p:sp>
        <p:nvSpPr>
          <p:cNvPr id="3" name="Text Placeholder 2"/>
          <p:cNvSpPr>
            <a:spLocks noGrp="1"/>
          </p:cNvSpPr>
          <p:nvPr>
            <p:ph type="body" idx="1"/>
          </p:nvPr>
        </p:nvSpPr>
        <p:spPr>
          <a:xfrm>
            <a:off x="1413165" y="1235034"/>
            <a:ext cx="7121236" cy="4676188"/>
          </a:xfrm>
        </p:spPr>
        <p:txBody>
          <a:bodyPr/>
          <a:lstStyle/>
          <a:p>
            <a:pPr marL="114300" indent="0">
              <a:buNone/>
            </a:pPr>
            <a:r>
              <a:rPr lang="en-US" sz="1800" b="1" dirty="0" smtClean="0">
                <a:latin typeface="Times New Roman" panose="02020603050405020304" pitchFamily="18" charset="0"/>
                <a:cs typeface="Times New Roman" panose="02020603050405020304" pitchFamily="18" charset="0"/>
              </a:rPr>
              <a:t>Performance Analysis</a:t>
            </a:r>
          </a:p>
          <a:p>
            <a:pPr marL="114300" indent="0">
              <a:buNone/>
            </a:pPr>
            <a:r>
              <a:rPr lang="en-US" sz="1800" dirty="0">
                <a:latin typeface="Times New Roman" panose="02020603050405020304" pitchFamily="18" charset="0"/>
                <a:cs typeface="Times New Roman" panose="02020603050405020304" pitchFamily="18" charset="0"/>
              </a:rPr>
              <a:t>The performance analysis of the proposed Accident Detection and Alert System was carried out using multiple evaluation metrics such as accuracy, precision, </a:t>
            </a:r>
            <a:r>
              <a:rPr lang="en-US" sz="1800" dirty="0" smtClean="0">
                <a:latin typeface="Times New Roman" panose="02020603050405020304" pitchFamily="18" charset="0"/>
                <a:cs typeface="Times New Roman" panose="02020603050405020304" pitchFamily="18" charset="0"/>
              </a:rPr>
              <a:t>recall </a:t>
            </a:r>
            <a:r>
              <a:rPr lang="en-US" sz="1800" dirty="0">
                <a:latin typeface="Times New Roman" panose="02020603050405020304" pitchFamily="18" charset="0"/>
                <a:cs typeface="Times New Roman" panose="02020603050405020304" pitchFamily="18" charset="0"/>
              </a:rPr>
              <a:t>and F1-score. Five deep learning models were tested, namely CNN, VGG16, MobileNetV2, </a:t>
            </a:r>
            <a:r>
              <a:rPr lang="en-US" sz="1800" dirty="0" smtClean="0">
                <a:latin typeface="Times New Roman" panose="02020603050405020304" pitchFamily="18" charset="0"/>
                <a:cs typeface="Times New Roman" panose="02020603050405020304" pitchFamily="18" charset="0"/>
              </a:rPr>
              <a:t>ResNet50 </a:t>
            </a:r>
            <a:r>
              <a:rPr lang="en-US" sz="1800" dirty="0">
                <a:latin typeface="Times New Roman" panose="02020603050405020304" pitchFamily="18" charset="0"/>
                <a:cs typeface="Times New Roman" panose="02020603050405020304" pitchFamily="18" charset="0"/>
              </a:rPr>
              <a:t>and EfficientNetB0. Among them, VGG16 achieved the highest validation accuracy, while CNN provided a good balance between accuracy and computational efficiency. Since the project requires real-time accident detection, CNN was selected for final implementation due to its faster processing speed and lower resource consumption. Training and validation loss graphs also showed proper convergence, indicating effective learning and reliable performance of the model</a:t>
            </a:r>
            <a:r>
              <a:rPr lang="en-US" sz="1800" dirty="0" smtClean="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1311865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5039" y="356260"/>
            <a:ext cx="7109361" cy="748145"/>
          </a:xfrm>
        </p:spPr>
        <p:txBody>
          <a:bodyPr/>
          <a:lstStyle/>
          <a:p>
            <a:r>
              <a:rPr lang="en-US" b="1" dirty="0" smtClean="0">
                <a:latin typeface="Calibri"/>
                <a:ea typeface="Calibri"/>
                <a:cs typeface="Calibri"/>
                <a:sym typeface="Calibri"/>
              </a:rPr>
              <a:t>Conclusion</a:t>
            </a:r>
            <a:endParaRPr lang="en-US" dirty="0"/>
          </a:p>
        </p:txBody>
      </p:sp>
      <p:sp>
        <p:nvSpPr>
          <p:cNvPr id="3" name="Text Placeholder 2"/>
          <p:cNvSpPr>
            <a:spLocks noGrp="1"/>
          </p:cNvSpPr>
          <p:nvPr>
            <p:ph type="body" idx="1"/>
          </p:nvPr>
        </p:nvSpPr>
        <p:spPr>
          <a:xfrm>
            <a:off x="1436915" y="1068779"/>
            <a:ext cx="7097486" cy="4842443"/>
          </a:xfrm>
        </p:spPr>
        <p:txBody>
          <a:bodyPr/>
          <a:lstStyle/>
          <a:p>
            <a:pPr marL="114300" indent="0">
              <a:buNone/>
            </a:pPr>
            <a:r>
              <a:rPr lang="en-US" sz="1800" dirty="0">
                <a:latin typeface="Times New Roman" panose="02020603050405020304" pitchFamily="18" charset="0"/>
                <a:cs typeface="Times New Roman" panose="02020603050405020304" pitchFamily="18" charset="0"/>
              </a:rPr>
              <a:t>This project successfully developed an </a:t>
            </a:r>
            <a:r>
              <a:rPr lang="en-US" sz="1800" dirty="0" smtClean="0">
                <a:latin typeface="Times New Roman" panose="02020603050405020304" pitchFamily="18" charset="0"/>
                <a:cs typeface="Times New Roman" panose="02020603050405020304" pitchFamily="18" charset="0"/>
              </a:rPr>
              <a:t>Intelligent </a:t>
            </a:r>
            <a:r>
              <a:rPr lang="en-US" sz="1800" dirty="0">
                <a:latin typeface="Times New Roman" panose="02020603050405020304" pitchFamily="18" charset="0"/>
                <a:cs typeface="Times New Roman" panose="02020603050405020304" pitchFamily="18" charset="0"/>
              </a:rPr>
              <a:t>Accident Detection and Alert System using a CNN-based deep learning model to identify accidents from </a:t>
            </a:r>
            <a:r>
              <a:rPr lang="en-US" sz="1800" dirty="0" smtClean="0">
                <a:latin typeface="Times New Roman" panose="02020603050405020304" pitchFamily="18" charset="0"/>
                <a:cs typeface="Times New Roman" panose="02020603050405020304" pitchFamily="18" charset="0"/>
              </a:rPr>
              <a:t>real-time images</a:t>
            </a:r>
            <a:r>
              <a:rPr lang="en-US" sz="1800" dirty="0">
                <a:latin typeface="Times New Roman" panose="02020603050405020304" pitchFamily="18" charset="0"/>
                <a:cs typeface="Times New Roman" panose="02020603050405020304" pitchFamily="18" charset="0"/>
              </a:rPr>
              <a:t>. The system captures </a:t>
            </a:r>
            <a:r>
              <a:rPr lang="en-US" sz="1800" dirty="0" smtClean="0">
                <a:latin typeface="Times New Roman" panose="02020603050405020304" pitchFamily="18" charset="0"/>
                <a:cs typeface="Times New Roman" panose="02020603050405020304" pitchFamily="18" charset="0"/>
              </a:rPr>
              <a:t>image through </a:t>
            </a:r>
            <a:r>
              <a:rPr lang="en-US" sz="1800" dirty="0">
                <a:latin typeface="Times New Roman" panose="02020603050405020304" pitchFamily="18" charset="0"/>
                <a:cs typeface="Times New Roman" panose="02020603050405020304" pitchFamily="18" charset="0"/>
              </a:rPr>
              <a:t>a camera, processes each frame using </a:t>
            </a:r>
            <a:r>
              <a:rPr lang="en-US" sz="1800" dirty="0" smtClean="0">
                <a:latin typeface="Times New Roman" panose="02020603050405020304" pitchFamily="18" charset="0"/>
                <a:cs typeface="Times New Roman" panose="02020603050405020304" pitchFamily="18" charset="0"/>
              </a:rPr>
              <a:t>OpenCV and </a:t>
            </a:r>
            <a:r>
              <a:rPr lang="en-US" sz="1800" dirty="0">
                <a:latin typeface="Times New Roman" panose="02020603050405020304" pitchFamily="18" charset="0"/>
                <a:cs typeface="Times New Roman" panose="02020603050405020304" pitchFamily="18" charset="0"/>
              </a:rPr>
              <a:t>classifies it as accident or non-accident. When an accident is detected, the system automatically sends a WhatsApp alert containing the accident location, </a:t>
            </a:r>
            <a:r>
              <a:rPr lang="en-US" sz="1800" dirty="0" smtClean="0">
                <a:latin typeface="Times New Roman" panose="02020603050405020304" pitchFamily="18" charset="0"/>
                <a:cs typeface="Times New Roman" panose="02020603050405020304" pitchFamily="18" charset="0"/>
              </a:rPr>
              <a:t>address </a:t>
            </a:r>
            <a:r>
              <a:rPr lang="en-US" sz="1800" dirty="0">
                <a:latin typeface="Times New Roman" panose="02020603050405020304" pitchFamily="18" charset="0"/>
                <a:cs typeface="Times New Roman" panose="02020603050405020304" pitchFamily="18" charset="0"/>
              </a:rPr>
              <a:t>and map link to the concerned authority or </a:t>
            </a:r>
            <a:r>
              <a:rPr lang="en-US" sz="1800" dirty="0" smtClean="0">
                <a:latin typeface="Times New Roman" panose="02020603050405020304" pitchFamily="18" charset="0"/>
                <a:cs typeface="Times New Roman" panose="02020603050405020304" pitchFamily="18" charset="0"/>
              </a:rPr>
              <a:t>nearest hospital </a:t>
            </a:r>
            <a:r>
              <a:rPr lang="en-US" sz="1800" dirty="0">
                <a:latin typeface="Times New Roman" panose="02020603050405020304" pitchFamily="18" charset="0"/>
                <a:cs typeface="Times New Roman" panose="02020603050405020304" pitchFamily="18" charset="0"/>
              </a:rPr>
              <a:t>using Twilio API. Multiple models were </a:t>
            </a:r>
            <a:r>
              <a:rPr lang="en-US" sz="1800" dirty="0" smtClean="0">
                <a:latin typeface="Times New Roman" panose="02020603050405020304" pitchFamily="18" charset="0"/>
                <a:cs typeface="Times New Roman" panose="02020603050405020304" pitchFamily="18" charset="0"/>
              </a:rPr>
              <a:t>evaluated </a:t>
            </a:r>
            <a:r>
              <a:rPr lang="en-US" sz="1800" dirty="0">
                <a:latin typeface="Times New Roman" panose="02020603050405020304" pitchFamily="18" charset="0"/>
                <a:cs typeface="Times New Roman" panose="02020603050405020304" pitchFamily="18" charset="0"/>
              </a:rPr>
              <a:t>and CNN was selected for deployment due to its balance of accuracy, </a:t>
            </a:r>
            <a:r>
              <a:rPr lang="en-US" sz="1800" dirty="0" smtClean="0">
                <a:latin typeface="Times New Roman" panose="02020603050405020304" pitchFamily="18" charset="0"/>
                <a:cs typeface="Times New Roman" panose="02020603050405020304" pitchFamily="18" charset="0"/>
              </a:rPr>
              <a:t>speed </a:t>
            </a:r>
            <a:r>
              <a:rPr lang="en-US" sz="1800" dirty="0">
                <a:latin typeface="Times New Roman" panose="02020603050405020304" pitchFamily="18" charset="0"/>
                <a:cs typeface="Times New Roman" panose="02020603050405020304" pitchFamily="18" charset="0"/>
              </a:rPr>
              <a:t>and efficiency. </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3360793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043" y="558140"/>
            <a:ext cx="7014358" cy="902526"/>
          </a:xfrm>
        </p:spPr>
        <p:txBody>
          <a:bodyPr/>
          <a:lstStyle/>
          <a:p>
            <a:r>
              <a:rPr lang="en-US" b="1" dirty="0">
                <a:latin typeface="Calibri"/>
                <a:ea typeface="Calibri"/>
                <a:cs typeface="Calibri"/>
                <a:sym typeface="Calibri"/>
              </a:rPr>
              <a:t>Future Scope</a:t>
            </a:r>
            <a:endParaRPr lang="en-US" dirty="0"/>
          </a:p>
        </p:txBody>
      </p:sp>
      <p:sp>
        <p:nvSpPr>
          <p:cNvPr id="3" name="Text Placeholder 2"/>
          <p:cNvSpPr>
            <a:spLocks noGrp="1"/>
          </p:cNvSpPr>
          <p:nvPr>
            <p:ph type="body" idx="1"/>
          </p:nvPr>
        </p:nvSpPr>
        <p:spPr>
          <a:xfrm>
            <a:off x="1520043" y="1306286"/>
            <a:ext cx="7014358" cy="4604936"/>
          </a:xfrm>
        </p:spPr>
        <p:txBody>
          <a:bodyPr/>
          <a:lstStyle/>
          <a:p>
            <a:pPr marL="114300" indent="0">
              <a:buNone/>
            </a:pPr>
            <a:r>
              <a:rPr lang="en-US" sz="1800" dirty="0">
                <a:latin typeface="Times New Roman" panose="02020603050405020304" pitchFamily="18" charset="0"/>
                <a:cs typeface="Times New Roman" panose="02020603050405020304" pitchFamily="18" charset="0"/>
              </a:rPr>
              <a:t>In future enhancements, the accident detection and alert system can be improved by integrating real-time navigation and traffic analysis to automatically suggest the nearest hospital with the least traffic congestion. By using map services such as Google Maps APIs, the system can identify the fastest route instead of only the shortest distance, helping emergency services reach the accident spot quickly. This enhancement can significantly reduce response time, improve patient </a:t>
            </a:r>
            <a:r>
              <a:rPr lang="en-US" sz="1800" dirty="0" smtClean="0">
                <a:latin typeface="Times New Roman" panose="02020603050405020304" pitchFamily="18" charset="0"/>
                <a:cs typeface="Times New Roman" panose="02020603050405020304" pitchFamily="18" charset="0"/>
              </a:rPr>
              <a:t>safety </a:t>
            </a:r>
            <a:r>
              <a:rPr lang="en-US" sz="1800" dirty="0">
                <a:latin typeface="Times New Roman" panose="02020603050405020304" pitchFamily="18" charset="0"/>
                <a:cs typeface="Times New Roman" panose="02020603050405020304" pitchFamily="18" charset="0"/>
              </a:rPr>
              <a:t>and make the system more practical for real-world smart transportation applications.</a:t>
            </a:r>
          </a:p>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2918052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5"/>
          <p:cNvSpPr txBox="1">
            <a:spLocks noGrp="1"/>
          </p:cNvSpPr>
          <p:nvPr>
            <p:ph type="title"/>
          </p:nvPr>
        </p:nvSpPr>
        <p:spPr>
          <a:xfrm>
            <a:off x="1676400" y="95003"/>
            <a:ext cx="6589712" cy="85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sz="3600" b="1" i="0" u="none" dirty="0">
                <a:solidFill>
                  <a:srgbClr val="1581AA"/>
                </a:solidFill>
                <a:latin typeface="Calibri"/>
                <a:ea typeface="Calibri"/>
                <a:cs typeface="Calibri"/>
                <a:sym typeface="Calibri"/>
              </a:rPr>
              <a:t>References</a:t>
            </a:r>
            <a:endParaRPr dirty="0"/>
          </a:p>
        </p:txBody>
      </p:sp>
      <p:sp>
        <p:nvSpPr>
          <p:cNvPr id="795" name="Google Shape;795;p45"/>
          <p:cNvSpPr txBox="1">
            <a:spLocks noGrp="1"/>
          </p:cNvSpPr>
          <p:nvPr>
            <p:ph type="body" idx="1"/>
          </p:nvPr>
        </p:nvSpPr>
        <p:spPr>
          <a:xfrm>
            <a:off x="1331912" y="688769"/>
            <a:ext cx="6934200" cy="5415168"/>
          </a:xfrm>
          <a:prstGeom prst="rect">
            <a:avLst/>
          </a:prstGeom>
          <a:noFill/>
          <a:ln>
            <a:noFill/>
          </a:ln>
        </p:spPr>
        <p:txBody>
          <a:bodyPr spcFirstLastPara="1" wrap="square" lIns="91425" tIns="45700" rIns="91425" bIns="45700" anchor="t" anchorCtr="0">
            <a:noAutofit/>
          </a:bodyPr>
          <a:lstStyle/>
          <a:p>
            <a:pPr marL="114300" lvl="0" indent="0">
              <a:buNone/>
            </a:pPr>
            <a:r>
              <a:rPr lang="en-US" sz="1800" dirty="0" smtClean="0">
                <a:latin typeface="Times New Roman" panose="02020603050405020304" pitchFamily="18" charset="0"/>
                <a:cs typeface="Times New Roman" panose="02020603050405020304" pitchFamily="18" charset="0"/>
              </a:rPr>
              <a:t>[1]G.Siri,G.Priyanka,B.Divya,G.Sameera,M.Pallavi</a:t>
            </a:r>
            <a:r>
              <a:rPr lang="en-US" sz="1800" dirty="0">
                <a:latin typeface="Times New Roman" panose="02020603050405020304" pitchFamily="18" charset="0"/>
                <a:cs typeface="Times New Roman" panose="02020603050405020304" pitchFamily="18" charset="0"/>
              </a:rPr>
              <a:t>, “Accident Detection and  Alert System” IRJETS </a:t>
            </a:r>
            <a:r>
              <a:rPr lang="en-US" sz="1800" dirty="0" smtClean="0">
                <a:latin typeface="Times New Roman" panose="02020603050405020304" pitchFamily="18" charset="0"/>
                <a:cs typeface="Times New Roman" panose="02020603050405020304" pitchFamily="18" charset="0"/>
              </a:rPr>
              <a:t>vol.04,Issue06,June-2022.</a:t>
            </a:r>
          </a:p>
          <a:p>
            <a:pPr marL="114300" lvl="0" indent="0">
              <a:buNone/>
            </a:pPr>
            <a:r>
              <a:rPr lang="en-US" sz="1800" dirty="0" smtClean="0">
                <a:latin typeface="Times New Roman" panose="02020603050405020304" pitchFamily="18" charset="0"/>
                <a:cs typeface="Times New Roman" panose="02020603050405020304" pitchFamily="18" charset="0"/>
              </a:rPr>
              <a:t>[2]Sinchana.RD,Sindhu.KS,Sudhakara.HM</a:t>
            </a:r>
            <a:r>
              <a:rPr lang="en-US" sz="1800" dirty="0">
                <a:latin typeface="Times New Roman" panose="02020603050405020304" pitchFamily="18" charset="0"/>
                <a:cs typeface="Times New Roman" panose="02020603050405020304" pitchFamily="18" charset="0"/>
              </a:rPr>
              <a:t>, “Accident Detection and Alert System for enhanced Safety and Response”, </a:t>
            </a:r>
            <a:r>
              <a:rPr lang="en-US" sz="1800" dirty="0" smtClean="0">
                <a:latin typeface="Times New Roman" panose="02020603050405020304" pitchFamily="18" charset="0"/>
                <a:cs typeface="Times New Roman" panose="02020603050405020304" pitchFamily="18" charset="0"/>
              </a:rPr>
              <a:t>vol.13,Issue11,2024.</a:t>
            </a:r>
          </a:p>
          <a:p>
            <a:pPr marL="114300" lvl="0" indent="0">
              <a:buNone/>
            </a:pPr>
            <a:r>
              <a:rPr lang="en-US" sz="1800" dirty="0" smtClean="0">
                <a:latin typeface="Times New Roman" panose="02020603050405020304" pitchFamily="18" charset="0"/>
                <a:cs typeface="Times New Roman" panose="02020603050405020304" pitchFamily="18" charset="0"/>
              </a:rPr>
              <a:t>[3]Priyadarshini.C.patil,Padmanabhan </a:t>
            </a:r>
            <a:r>
              <a:rPr lang="en-US" sz="1800" dirty="0">
                <a:latin typeface="Times New Roman" panose="02020603050405020304" pitchFamily="18" charset="0"/>
                <a:cs typeface="Times New Roman" panose="02020603050405020304" pitchFamily="18" charset="0"/>
              </a:rPr>
              <a:t>Ghanate, Rishikesh patil, “Road Accident Detection and Alert Notification System using Machine Learning ”, IJSDR vol.10,Issue12, </a:t>
            </a:r>
            <a:r>
              <a:rPr lang="en-US" sz="1800" dirty="0" smtClean="0">
                <a:latin typeface="Times New Roman" panose="02020603050405020304" pitchFamily="18" charset="0"/>
                <a:cs typeface="Times New Roman" panose="02020603050405020304" pitchFamily="18" charset="0"/>
              </a:rPr>
              <a:t>2025.</a:t>
            </a:r>
          </a:p>
          <a:p>
            <a:pPr marL="114300" lvl="0" indent="0">
              <a:buNone/>
            </a:pPr>
            <a:r>
              <a:rPr lang="en-US" sz="1800" dirty="0" smtClean="0">
                <a:latin typeface="Times New Roman" panose="02020603050405020304" pitchFamily="18" charset="0"/>
                <a:cs typeface="Times New Roman" panose="02020603050405020304" pitchFamily="18" charset="0"/>
              </a:rPr>
              <a:t>[4]Devisha </a:t>
            </a:r>
            <a:r>
              <a:rPr lang="en-US" sz="1800" dirty="0">
                <a:latin typeface="Times New Roman" panose="02020603050405020304" pitchFamily="18" charset="0"/>
                <a:cs typeface="Times New Roman" panose="02020603050405020304" pitchFamily="18" charset="0"/>
              </a:rPr>
              <a:t>Arunadevi </a:t>
            </a:r>
            <a:r>
              <a:rPr lang="en-US" sz="1800" dirty="0" smtClean="0">
                <a:latin typeface="Times New Roman" panose="02020603050405020304" pitchFamily="18" charset="0"/>
                <a:cs typeface="Times New Roman" panose="02020603050405020304" pitchFamily="18" charset="0"/>
              </a:rPr>
              <a:t>Tiwari,Emmadi </a:t>
            </a:r>
            <a:r>
              <a:rPr lang="en-US" sz="1800" dirty="0">
                <a:latin typeface="Times New Roman" panose="02020603050405020304" pitchFamily="18" charset="0"/>
                <a:cs typeface="Times New Roman" panose="02020603050405020304" pitchFamily="18" charset="0"/>
              </a:rPr>
              <a:t>Bhanu Sai,Bandapu Sai Chandu,”Machine Learning based Accident detection and Alert System” JEITR, May </a:t>
            </a:r>
            <a:r>
              <a:rPr lang="en-US" sz="1800" dirty="0" smtClean="0">
                <a:latin typeface="Times New Roman" panose="02020603050405020304" pitchFamily="18" charset="0"/>
                <a:cs typeface="Times New Roman" panose="02020603050405020304" pitchFamily="18" charset="0"/>
              </a:rPr>
              <a:t>2024.</a:t>
            </a:r>
          </a:p>
          <a:p>
            <a:pPr marL="114300" lvl="0" indent="0">
              <a:buNone/>
            </a:pPr>
            <a:r>
              <a:rPr lang="en-US" sz="1800" dirty="0" smtClean="0">
                <a:latin typeface="Times New Roman" panose="02020603050405020304" pitchFamily="18" charset="0"/>
                <a:cs typeface="Times New Roman" panose="02020603050405020304" pitchFamily="18" charset="0"/>
              </a:rPr>
              <a:t>[5]Gopal </a:t>
            </a:r>
            <a:r>
              <a:rPr lang="en-US" sz="1800" dirty="0">
                <a:latin typeface="Times New Roman" panose="02020603050405020304" pitchFamily="18" charset="0"/>
                <a:cs typeface="Times New Roman" panose="02020603050405020304" pitchFamily="18" charset="0"/>
              </a:rPr>
              <a:t>Sunil Rathod,Rani Chandrabhan Tipale,Dr. Kapil Jajulwar,”Intelligent Accident Detection and Alerting System based on Machine Learning over the IoT Network”2022 International Conference on Futuristic Technologies (INCOFT) Karnataka, India. Nov 25-27, IEEE 2022</a:t>
            </a:r>
            <a:r>
              <a:rPr lang="en-US" sz="1800" dirty="0" smtClean="0">
                <a:latin typeface="Times New Roman" panose="02020603050405020304" pitchFamily="18" charset="0"/>
                <a:cs typeface="Times New Roman" panose="02020603050405020304" pitchFamily="18" charset="0"/>
              </a:rPr>
              <a:t>.</a:t>
            </a:r>
          </a:p>
        </p:txBody>
      </p:sp>
      <p:sp>
        <p:nvSpPr>
          <p:cNvPr id="796" name="Google Shape;796;p45"/>
          <p:cNvSpPr txBox="1"/>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797" name="Google Shape;797;p45"/>
          <p:cNvSpPr txBox="1"/>
          <p:nvPr/>
        </p:nvSpPr>
        <p:spPr>
          <a:xfrm>
            <a:off x="2895600" y="6351215"/>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798" name="Google Shape;798;p45"/>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a:solidFill>
                  <a:srgbClr val="898989"/>
                </a:solidFill>
                <a:latin typeface="Century Gothic"/>
                <a:ea typeface="Century Gothic"/>
                <a:cs typeface="Century Gothic"/>
                <a:sym typeface="Century Gothic"/>
              </a:rPr>
              <a:t>24</a:t>
            </a:fld>
            <a:r>
              <a:rPr lang="en-US" sz="900" b="0" i="0" u="none" dirty="0">
                <a:solidFill>
                  <a:srgbClr val="898989"/>
                </a:solidFill>
                <a:latin typeface="Century Gothic"/>
                <a:ea typeface="Century Gothic"/>
                <a:cs typeface="Century Gothic"/>
                <a:sym typeface="Century Gothic"/>
              </a:rPr>
              <a:t> of 12</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060" y="196599"/>
            <a:ext cx="6589199" cy="860305"/>
          </a:xfrm>
        </p:spPr>
        <p:txBody>
          <a:bodyPr/>
          <a:lstStyle/>
          <a:p>
            <a:r>
              <a:rPr lang="en-US" b="1" dirty="0">
                <a:latin typeface="Calibri"/>
                <a:ea typeface="Calibri"/>
                <a:cs typeface="Calibri"/>
                <a:sym typeface="Calibri"/>
              </a:rPr>
              <a:t>References</a:t>
            </a:r>
            <a:endParaRPr lang="en-US" dirty="0"/>
          </a:p>
        </p:txBody>
      </p:sp>
      <p:sp>
        <p:nvSpPr>
          <p:cNvPr id="3" name="Text Placeholder 2"/>
          <p:cNvSpPr>
            <a:spLocks noGrp="1"/>
          </p:cNvSpPr>
          <p:nvPr>
            <p:ph type="body" idx="1"/>
          </p:nvPr>
        </p:nvSpPr>
        <p:spPr>
          <a:xfrm>
            <a:off x="1313023" y="831274"/>
            <a:ext cx="7213460" cy="5415148"/>
          </a:xfrm>
        </p:spPr>
        <p:txBody>
          <a:bodyPr/>
          <a:lstStyle/>
          <a:p>
            <a:pPr marL="114300" indent="0">
              <a:buNone/>
            </a:pPr>
            <a:r>
              <a:rPr lang="en-US" sz="1800" dirty="0" smtClean="0">
                <a:latin typeface="Times New Roman" panose="02020603050405020304" pitchFamily="18" charset="0"/>
                <a:cs typeface="Times New Roman" panose="02020603050405020304" pitchFamily="18" charset="0"/>
              </a:rPr>
              <a:t>[6]Swapnali.R.Pawar,Rushikesh </a:t>
            </a:r>
            <a:r>
              <a:rPr lang="en-US" sz="1800" dirty="0">
                <a:latin typeface="Times New Roman" panose="02020603050405020304" pitchFamily="18" charset="0"/>
                <a:cs typeface="Times New Roman" panose="02020603050405020304" pitchFamily="18" charset="0"/>
              </a:rPr>
              <a:t>Bamne,Shreyash Patil,Sushant Chipate,Tanmay Vasagadekar,”Detection and Alert generation of road accident using Deep Learning”International Conference on Healthcare Innovations,Software and Engineering Technologies(HISET), IEEE 2024</a:t>
            </a:r>
            <a:r>
              <a:rPr lang="en-US" sz="1800" dirty="0" smtClean="0">
                <a:latin typeface="Times New Roman" panose="02020603050405020304" pitchFamily="18" charset="0"/>
                <a:cs typeface="Times New Roman" panose="02020603050405020304" pitchFamily="18" charset="0"/>
              </a:rPr>
              <a:t>.</a:t>
            </a:r>
          </a:p>
          <a:p>
            <a:pPr marL="114300" indent="0">
              <a:buNone/>
            </a:pPr>
            <a:r>
              <a:rPr lang="en-US" sz="1800" dirty="0" smtClean="0">
                <a:latin typeface="Times New Roman" panose="02020603050405020304" pitchFamily="18" charset="0"/>
                <a:cs typeface="Times New Roman" panose="02020603050405020304" pitchFamily="18" charset="0"/>
              </a:rPr>
              <a:t>[7]VICTOR </a:t>
            </a:r>
            <a:r>
              <a:rPr lang="en-US" sz="1800" dirty="0">
                <a:latin typeface="Times New Roman" panose="02020603050405020304" pitchFamily="18" charset="0"/>
                <a:cs typeface="Times New Roman" panose="02020603050405020304" pitchFamily="18" charset="0"/>
              </a:rPr>
              <a:t>A. ADEWOPO,NELLY ELSAYED,”Smart City Transportation: Deep Learning Ensemble Approach for Traffic Accident Detection “,IEEE </a:t>
            </a:r>
            <a:r>
              <a:rPr lang="en-US" sz="1800" dirty="0" smtClean="0">
                <a:latin typeface="Times New Roman" panose="02020603050405020304" pitchFamily="18" charset="0"/>
                <a:cs typeface="Times New Roman" panose="02020603050405020304" pitchFamily="18" charset="0"/>
              </a:rPr>
              <a:t>2024.</a:t>
            </a:r>
          </a:p>
          <a:p>
            <a:pPr marL="114300" indent="0">
              <a:buNone/>
            </a:pPr>
            <a:r>
              <a:rPr lang="en-US" sz="1800" dirty="0" smtClean="0">
                <a:latin typeface="Times New Roman" panose="02020603050405020304" pitchFamily="18" charset="0"/>
                <a:cs typeface="Times New Roman" panose="02020603050405020304" pitchFamily="18" charset="0"/>
              </a:rPr>
              <a:t>[8]Pritam </a:t>
            </a:r>
            <a:r>
              <a:rPr lang="en-US" sz="1800" dirty="0">
                <a:latin typeface="Times New Roman" panose="02020603050405020304" pitchFamily="18" charset="0"/>
                <a:cs typeface="Times New Roman" panose="02020603050405020304" pitchFamily="18" charset="0"/>
              </a:rPr>
              <a:t>Banik Roy,Draksha,Ankika Dey,Rajendrani Mukherjee,Suparna Biswas,Suvamoy Changder,”Vehicle Tracking and Accident Prevention using Smart Technologies”,21st India Council International Conference (INDICON),IEEE </a:t>
            </a:r>
            <a:r>
              <a:rPr lang="en-US" sz="1800" dirty="0" smtClean="0">
                <a:latin typeface="Times New Roman" panose="02020603050405020304" pitchFamily="18" charset="0"/>
                <a:cs typeface="Times New Roman" panose="02020603050405020304" pitchFamily="18" charset="0"/>
              </a:rPr>
              <a:t>2024.</a:t>
            </a:r>
          </a:p>
          <a:p>
            <a:pPr marL="114300" indent="0">
              <a:buNone/>
            </a:pPr>
            <a:r>
              <a:rPr lang="en-US" sz="1800" dirty="0" smtClean="0">
                <a:latin typeface="Times New Roman" panose="02020603050405020304" pitchFamily="18" charset="0"/>
                <a:cs typeface="Times New Roman" panose="02020603050405020304" pitchFamily="18" charset="0"/>
              </a:rPr>
              <a:t>[9]Ravi </a:t>
            </a:r>
            <a:r>
              <a:rPr lang="en-US" sz="1800" dirty="0">
                <a:latin typeface="Times New Roman" panose="02020603050405020304" pitchFamily="18" charset="0"/>
                <a:cs typeface="Times New Roman" panose="02020603050405020304" pitchFamily="18" charset="0"/>
              </a:rPr>
              <a:t>K Kodali,Shubhi Sahu,”MQTT Based Vehicle Accident Detection and Alert System”,IEEE </a:t>
            </a:r>
            <a:r>
              <a:rPr lang="en-US" sz="1800" dirty="0" smtClean="0">
                <a:latin typeface="Times New Roman" panose="02020603050405020304" pitchFamily="18" charset="0"/>
                <a:cs typeface="Times New Roman" panose="02020603050405020304" pitchFamily="18" charset="0"/>
              </a:rPr>
              <a:t>2017.</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723838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938" y="422229"/>
            <a:ext cx="6589199" cy="860306"/>
          </a:xfrm>
        </p:spPr>
        <p:txBody>
          <a:bodyPr/>
          <a:lstStyle/>
          <a:p>
            <a:r>
              <a:rPr lang="en-US" b="1" dirty="0">
                <a:latin typeface="Calibri"/>
                <a:ea typeface="Calibri"/>
                <a:cs typeface="Calibri"/>
                <a:sym typeface="Calibri"/>
              </a:rPr>
              <a:t>References</a:t>
            </a:r>
            <a:endParaRPr lang="en-US" dirty="0"/>
          </a:p>
        </p:txBody>
      </p:sp>
      <p:sp>
        <p:nvSpPr>
          <p:cNvPr id="3" name="Text Placeholder 2"/>
          <p:cNvSpPr>
            <a:spLocks noGrp="1"/>
          </p:cNvSpPr>
          <p:nvPr>
            <p:ph type="body" idx="1"/>
          </p:nvPr>
        </p:nvSpPr>
        <p:spPr>
          <a:xfrm>
            <a:off x="1223159" y="1151906"/>
            <a:ext cx="7311242" cy="4759316"/>
          </a:xfrm>
        </p:spPr>
        <p:txBody>
          <a:bodyPr/>
          <a:lstStyle/>
          <a:p>
            <a:pPr marL="114300" lvl="0" indent="0">
              <a:buNone/>
            </a:pPr>
            <a:r>
              <a:rPr lang="en-US" sz="1800" dirty="0">
                <a:latin typeface="Times New Roman" panose="02020603050405020304" pitchFamily="18" charset="0"/>
                <a:cs typeface="Times New Roman" panose="02020603050405020304" pitchFamily="18" charset="0"/>
              </a:rPr>
              <a:t>[10]Aman Kumar Agrawal, Kadamb Agarwal, Jitendra Choudhary, Aradhita Bhattacharya, Srihitha Tangudu, Nishkarsh Makhija,Rajitha B,”Automatic Traffic Accident Detection System Using ResNet and SVM”,Fifth International Conference on Research in Computational Intelligence and Communication Networks (ICRCICN),IEEE </a:t>
            </a:r>
            <a:r>
              <a:rPr lang="en-US" sz="1800" dirty="0" smtClean="0">
                <a:latin typeface="Times New Roman" panose="02020603050405020304" pitchFamily="18" charset="0"/>
                <a:cs typeface="Times New Roman" panose="02020603050405020304" pitchFamily="18" charset="0"/>
              </a:rPr>
              <a:t>2020.</a:t>
            </a:r>
          </a:p>
          <a:p>
            <a:pPr marL="114300" lvl="0" indent="0">
              <a:buNone/>
            </a:pPr>
            <a:r>
              <a:rPr lang="en-US" sz="1800" dirty="0" smtClean="0">
                <a:latin typeface="Times New Roman" panose="02020603050405020304" pitchFamily="18" charset="0"/>
                <a:cs typeface="Times New Roman" panose="02020603050405020304" pitchFamily="18" charset="0"/>
              </a:rPr>
              <a:t>[11]Arnav </a:t>
            </a:r>
            <a:r>
              <a:rPr lang="en-US" sz="1800" dirty="0">
                <a:latin typeface="Times New Roman" panose="02020603050405020304" pitchFamily="18" charset="0"/>
                <a:cs typeface="Times New Roman" panose="02020603050405020304" pitchFamily="18" charset="0"/>
              </a:rPr>
              <a:t>Chaudhari, Harsh Agrawal,  Smiti Poddar, Kiran Talele, Manisha Bansode "Smart Accident Detection And Alert System" IEEE India Council International Subsection Conference(INDISCON) </a:t>
            </a:r>
            <a:r>
              <a:rPr lang="en-US" sz="1800" dirty="0" smtClean="0">
                <a:latin typeface="Times New Roman" panose="02020603050405020304" pitchFamily="18" charset="0"/>
                <a:cs typeface="Times New Roman" panose="02020603050405020304" pitchFamily="18" charset="0"/>
              </a:rPr>
              <a:t>2021.</a:t>
            </a:r>
            <a:endParaRPr lang="en-US" sz="1800" dirty="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r>
              <a:rPr lang="en-US" dirty="0" smtClean="0"/>
              <a:t>(#)  of 12</a:t>
            </a:r>
            <a:endParaRPr lang="en-US" dirty="0"/>
          </a:p>
        </p:txBody>
      </p:sp>
    </p:spTree>
    <p:extLst>
      <p:ext uri="{BB962C8B-B14F-4D97-AF65-F5344CB8AC3E}">
        <p14:creationId xmlns:p14="http://schemas.microsoft.com/office/powerpoint/2010/main" val="3734544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4" name="Google Shape;804;p46"/>
          <p:cNvSpPr txBox="1">
            <a:spLocks noGrp="1"/>
          </p:cNvSpPr>
          <p:nvPr>
            <p:ph type="body" idx="1"/>
          </p:nvPr>
        </p:nvSpPr>
        <p:spPr>
          <a:xfrm>
            <a:off x="1943100" y="2133600"/>
            <a:ext cx="6591300" cy="3778250"/>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accent1"/>
              </a:buClr>
              <a:buSzPts val="3600"/>
              <a:buFont typeface="Noto Sans Symbols"/>
              <a:buNone/>
            </a:pPr>
            <a:endParaRPr sz="3600" b="1" i="0" u="none" dirty="0">
              <a:solidFill>
                <a:srgbClr val="404040"/>
              </a:solidFill>
              <a:latin typeface="Century Gothic"/>
              <a:ea typeface="Century Gothic"/>
              <a:cs typeface="Century Gothic"/>
              <a:sym typeface="Century Gothic"/>
            </a:endParaRPr>
          </a:p>
          <a:p>
            <a:pPr marL="342900" marR="0" lvl="0" indent="-342900" algn="ctr" rtl="0">
              <a:lnSpc>
                <a:spcPct val="100000"/>
              </a:lnSpc>
              <a:spcBef>
                <a:spcPts val="1000"/>
              </a:spcBef>
              <a:spcAft>
                <a:spcPts val="0"/>
              </a:spcAft>
              <a:buClr>
                <a:schemeClr val="accent1"/>
              </a:buClr>
              <a:buSzPts val="3600"/>
              <a:buFont typeface="Noto Sans Symbols"/>
              <a:buNone/>
            </a:pPr>
            <a:r>
              <a:rPr lang="en-US" sz="3600" b="1" i="0" u="none" dirty="0">
                <a:solidFill>
                  <a:srgbClr val="404040"/>
                </a:solidFill>
                <a:latin typeface="Century Gothic"/>
                <a:ea typeface="Century Gothic"/>
                <a:cs typeface="Century Gothic"/>
                <a:sym typeface="Century Gothic"/>
              </a:rPr>
              <a:t>THANK YOU</a:t>
            </a:r>
            <a:endParaRPr dirty="0"/>
          </a:p>
        </p:txBody>
      </p:sp>
      <p:sp>
        <p:nvSpPr>
          <p:cNvPr id="805" name="Google Shape;805;p46"/>
          <p:cNvSpPr txBox="1"/>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a:t>
            </a:r>
            <a:endParaRPr dirty="0"/>
          </a:p>
        </p:txBody>
      </p:sp>
      <p:sp>
        <p:nvSpPr>
          <p:cNvPr id="806" name="Google Shape;806;p46"/>
          <p:cNvSpPr txBox="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Dept of CSE., SOE-Dayananda Sagar University</a:t>
            </a:r>
            <a:endParaRPr dirty="0"/>
          </a:p>
        </p:txBody>
      </p:sp>
      <p:sp>
        <p:nvSpPr>
          <p:cNvPr id="807" name="Google Shape;807;p46"/>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dirty="0">
                <a:solidFill>
                  <a:srgbClr val="898989"/>
                </a:solidFill>
                <a:latin typeface="Century Gothic"/>
                <a:ea typeface="Century Gothic"/>
                <a:cs typeface="Century Gothic"/>
                <a:sym typeface="Century Gothic"/>
              </a:rPr>
              <a:t>(#)  of 12</a:t>
            </a:r>
            <a:endParaRPr dirty="0"/>
          </a:p>
        </p:txBody>
      </p:sp>
    </p:spTree>
  </p:cSld>
  <p:clrMapOvr>
    <a:masterClrMapping/>
  </p:clrMapOvr>
</p:sld>
</file>

<file path=ppt/theme/theme1.xml><?xml version="1.0" encoding="utf-8"?>
<a:theme xmlns:a="http://schemas.openxmlformats.org/drawingml/2006/main" name="2_Wisp">
  <a:themeElements>
    <a:clrScheme name="Wisp">
      <a:dk1>
        <a:srgbClr val="000000"/>
      </a:dk1>
      <a:lt1>
        <a:srgbClr val="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495</TotalTime>
  <Words>2036</Words>
  <Application>Microsoft Office PowerPoint</Application>
  <PresentationFormat>On-screen Show (4:3)</PresentationFormat>
  <Paragraphs>323</Paragraphs>
  <Slides>27</Slides>
  <Notes>13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Arial</vt:lpstr>
      <vt:lpstr>Century Gothic</vt:lpstr>
      <vt:lpstr>Times New Roman</vt:lpstr>
      <vt:lpstr>Times</vt:lpstr>
      <vt:lpstr>Calibri</vt:lpstr>
      <vt:lpstr>Courier New</vt:lpstr>
      <vt:lpstr>Calibri Light</vt:lpstr>
      <vt:lpstr>Noto Sans Symbols</vt:lpstr>
      <vt:lpstr>Cambria</vt:lpstr>
      <vt:lpstr>2_Wisp</vt:lpstr>
      <vt:lpstr>Office Theme</vt:lpstr>
      <vt:lpstr>PowerPoint Presentation</vt:lpstr>
      <vt:lpstr>Overview</vt:lpstr>
      <vt:lpstr>Abstract</vt:lpstr>
      <vt:lpstr>Problem Statement </vt:lpstr>
      <vt:lpstr>Objectives</vt:lpstr>
      <vt:lpstr>Expected Outcomes</vt:lpstr>
      <vt:lpstr>Introduction</vt:lpstr>
      <vt:lpstr>State of the Art-work </vt:lpstr>
      <vt:lpstr>.</vt:lpstr>
      <vt:lpstr>Social/Environmental Impact </vt:lpstr>
      <vt:lpstr>Proposed Methodology</vt:lpstr>
      <vt:lpstr>Design &amp; Implementation</vt:lpstr>
      <vt:lpstr>PowerPoint Presentation</vt:lpstr>
      <vt:lpstr>Design</vt:lpstr>
      <vt:lpstr>.</vt:lpstr>
      <vt:lpstr>Results </vt:lpstr>
      <vt:lpstr>.</vt:lpstr>
      <vt:lpstr>.</vt:lpstr>
      <vt:lpstr>.</vt:lpstr>
      <vt:lpstr>             </vt:lpstr>
      <vt:lpstr>Discussion</vt:lpstr>
      <vt:lpstr>Conclusion</vt:lpstr>
      <vt:lpstr>Future Scope</vt:lpstr>
      <vt:lpstr>References</vt:lpstr>
      <vt:lpstr>References</vt:lpstr>
      <vt:lpstr>References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Bhuvana A M</dc:creator>
  <cp:lastModifiedBy>Admin</cp:lastModifiedBy>
  <cp:revision>31</cp:revision>
  <dcterms:modified xsi:type="dcterms:W3CDTF">2026-04-29T18:14:50Z</dcterms:modified>
</cp:coreProperties>
</file>